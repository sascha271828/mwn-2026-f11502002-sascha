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6F4939-4AC0-4C31-B76C-506FAAE3371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F0B2AF-132F-491E-8367-D9D89AE5BA35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00C4605-C9E1-4306-97DB-23893BCD6CA2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5CDF64-B0EB-4446-AE14-2C01A736371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860BCC-4EFB-4CAA-92C1-679CF605F0F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8ECB00-218C-4127-839B-6ACCCB0E6A4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FF4B9C-7905-4D0F-AF06-D18694FADE2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6D40BA-BFC9-4469-BC02-29A238AE2032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EBFD886-6033-448F-958F-1E47DA16138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A691E5-68B3-49D2-80E5-E7B2D6276346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F0BFDF-8EEF-49A2-BD0D-6B3378DC0FF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400" b="1" u="none" strike="noStrike">
                <a:solidFill>
                  <a:schemeClr val="dk1"/>
                </a:solidFill>
                <a:effectLst/>
                <a:uFillTx/>
                <a:latin typeface="Aptos Display"/>
                <a:ea typeface="Aptos Display"/>
              </a:rPr>
              <a:t>Multimedia Wireless Networks A2</a:t>
            </a:r>
            <a:endParaRPr lang="en-US" sz="6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2920" cy="165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4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ns-3 Setup &amp; First Scenario</a:t>
            </a:r>
            <a:endParaRPr lang="en-GB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ubtitle 2"/>
          <p:cNvSpPr/>
          <p:nvPr/>
        </p:nvSpPr>
        <p:spPr>
          <a:xfrm>
            <a:off x="3960000" y="4824000"/>
            <a:ext cx="4034160" cy="15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Sascha Furrer</a:t>
            </a:r>
            <a:br>
              <a:rPr sz="3200"/>
            </a:b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F11502002</a:t>
            </a:r>
            <a:br>
              <a:rPr sz="3200"/>
            </a:b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Basic Path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Goal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4" name="Subtitle 2"/>
          <p:cNvSpPr/>
          <p:nvPr/>
        </p:nvSpPr>
        <p:spPr>
          <a:xfrm>
            <a:off x="0" y="4871880"/>
            <a:ext cx="12191040" cy="163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Does EDCA prioritization still work with realistic multimedia traffic?</a:t>
            </a:r>
            <a:endParaRPr lang="en-GB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02_1"/>
          <p:cNvSpPr/>
          <p:nvPr/>
        </p:nvSpPr>
        <p:spPr>
          <a:xfrm>
            <a:off x="548640" y="2729160"/>
            <a:ext cx="2975400" cy="148716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2286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Arial"/>
              </a:rPr>
              <a:t>ns-3 running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02_2"/>
          <p:cNvSpPr/>
          <p:nvPr/>
        </p:nvSpPr>
        <p:spPr>
          <a:xfrm>
            <a:off x="1766160" y="2052720"/>
            <a:ext cx="540000" cy="54000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92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lang="en-GB" sz="1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S02_3"/>
          <p:cNvSpPr/>
          <p:nvPr/>
        </p:nvSpPr>
        <p:spPr>
          <a:xfrm>
            <a:off x="4607640" y="2729160"/>
            <a:ext cx="2975400" cy="148716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2286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Arial"/>
              </a:rPr>
              <a:t>3GPP traffic model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02_4"/>
          <p:cNvSpPr/>
          <p:nvPr/>
        </p:nvSpPr>
        <p:spPr>
          <a:xfrm>
            <a:off x="5825160" y="2052720"/>
            <a:ext cx="540000" cy="54000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92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lang="en-GB" sz="1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02_5"/>
          <p:cNvSpPr/>
          <p:nvPr/>
        </p:nvSpPr>
        <p:spPr>
          <a:xfrm>
            <a:off x="8666640" y="2729160"/>
            <a:ext cx="2975400" cy="148716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2286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Arial"/>
              </a:rPr>
              <a:t>verified on my own run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02_6"/>
          <p:cNvSpPr/>
          <p:nvPr/>
        </p:nvSpPr>
        <p:spPr>
          <a:xfrm>
            <a:off x="9884160" y="2052720"/>
            <a:ext cx="540000" cy="54000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92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lang="en-GB" sz="1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S02_7_line"/>
          <p:cNvCxnSpPr/>
          <p:nvPr/>
        </p:nvCxnSpPr>
        <p:spPr>
          <a:xfrm>
            <a:off x="3525120" y="3473280"/>
            <a:ext cx="1083240" cy="1080"/>
          </a:xfrm>
          <a:prstGeom prst="straightConnector1">
            <a:avLst/>
          </a:prstGeom>
          <a:ln w="34290">
            <a:solidFill>
              <a:srgbClr val="1F2937"/>
            </a:solidFill>
            <a:round/>
            <a:tailEnd len="med" type="triangle" w="med"/>
          </a:ln>
        </p:spPr>
      </p:cxnSp>
      <p:cxnSp>
        <p:nvCxnSpPr>
          <p:cNvPr id="72" name="S02_8_line"/>
          <p:cNvCxnSpPr/>
          <p:nvPr/>
        </p:nvCxnSpPr>
        <p:spPr>
          <a:xfrm>
            <a:off x="7584120" y="3473280"/>
            <a:ext cx="1083240" cy="1080"/>
          </a:xfrm>
          <a:prstGeom prst="straightConnector1">
            <a:avLst/>
          </a:prstGeom>
          <a:ln w="34290">
            <a:solidFill>
              <a:srgbClr val="1F2937"/>
            </a:solidFill>
            <a:round/>
            <a:tailEnd len="med" type="triangle" w="med"/>
          </a:ln>
        </p:spPr>
      </p:cxnSp>
      <p:cxnSp>
        <p:nvCxnSpPr>
          <p:cNvPr id="73" name="S02_7_line"/>
          <p:cNvCxnSpPr/>
          <p:nvPr/>
        </p:nvCxnSpPr>
        <p:spPr>
          <a:xfrm>
            <a:off x="3525120" y="3473280"/>
            <a:ext cx="1083240" cy="1080"/>
          </a:xfrm>
          <a:prstGeom prst="straightConnector1">
            <a:avLst/>
          </a:prstGeom>
          <a:ln w="34290">
            <a:solidFill>
              <a:srgbClr val="1F2937"/>
            </a:solidFill>
            <a:round/>
            <a:tailEnd len="med" type="triangle" w="med"/>
          </a:ln>
        </p:spPr>
      </p:cxnSp>
      <p:cxnSp>
        <p:nvCxnSpPr>
          <p:cNvPr id="74" name="S02_8_line"/>
          <p:cNvCxnSpPr/>
          <p:nvPr/>
        </p:nvCxnSpPr>
        <p:spPr>
          <a:xfrm>
            <a:off x="7584120" y="3473280"/>
            <a:ext cx="1083240" cy="1080"/>
          </a:xfrm>
          <a:prstGeom prst="straightConnector1">
            <a:avLst/>
          </a:prstGeom>
          <a:ln w="34290">
            <a:solidFill>
              <a:srgbClr val="1F2937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ns-3 setup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pic>
        <p:nvPicPr>
          <p:cNvPr id="76" name="Content Placeholder 4"/>
          <p:cNvPicPr/>
          <p:nvPr/>
        </p:nvPicPr>
        <p:blipFill>
          <a:blip r:embed="rId1"/>
          <a:stretch/>
        </p:blipFill>
        <p:spPr>
          <a:xfrm>
            <a:off x="6452280" y="559800"/>
            <a:ext cx="5420160" cy="288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Picture 5"/>
          <p:cNvPicPr/>
          <p:nvPr/>
        </p:nvPicPr>
        <p:blipFill>
          <a:blip r:embed="rId2"/>
          <a:stretch/>
        </p:blipFill>
        <p:spPr>
          <a:xfrm>
            <a:off x="322920" y="1683360"/>
            <a:ext cx="5922360" cy="146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Picture 6"/>
          <p:cNvPicPr/>
          <p:nvPr/>
        </p:nvPicPr>
        <p:blipFill>
          <a:blip r:embed="rId3"/>
          <a:stretch/>
        </p:blipFill>
        <p:spPr>
          <a:xfrm>
            <a:off x="320400" y="3690000"/>
            <a:ext cx="11547720" cy="132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Picture 7"/>
          <p:cNvPicPr/>
          <p:nvPr/>
        </p:nvPicPr>
        <p:blipFill>
          <a:blip r:embed="rId4"/>
          <a:stretch/>
        </p:blipFill>
        <p:spPr>
          <a:xfrm>
            <a:off x="319320" y="5190120"/>
            <a:ext cx="11547720" cy="424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3GPP TR 26.926 V19.0.0 (Rel. 19)​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S04_1"/>
          <p:cNvSpPr/>
          <p:nvPr/>
        </p:nvSpPr>
        <p:spPr>
          <a:xfrm>
            <a:off x="883800" y="1904040"/>
            <a:ext cx="4662360" cy="10962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2286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3670" b="1" u="none" strike="noStrike">
                <a:solidFill>
                  <a:srgbClr val="1F2937"/>
                </a:solidFill>
                <a:effectLst/>
                <a:uFillTx/>
                <a:latin typeface="Arial"/>
              </a:rPr>
              <a:t>TS</a:t>
            </a:r>
            <a:endParaRPr lang="en-GB" sz="3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940" b="0" u="none" strike="noStrike">
                <a:solidFill>
                  <a:srgbClr val="1F2937"/>
                </a:solidFill>
                <a:effectLst/>
                <a:uFillTx/>
                <a:latin typeface="Arial"/>
              </a:rPr>
              <a:t>Technical Specification</a:t>
            </a:r>
            <a:endParaRPr lang="en-GB" sz="19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04_3"/>
          <p:cNvSpPr/>
          <p:nvPr/>
        </p:nvSpPr>
        <p:spPr>
          <a:xfrm>
            <a:off x="6095880" y="1904040"/>
            <a:ext cx="4662360" cy="1096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3670" b="1" u="none" strike="noStrike">
                <a:solidFill>
                  <a:srgbClr val="1F2937"/>
                </a:solidFill>
                <a:effectLst/>
                <a:uFillTx/>
                <a:latin typeface="Arial"/>
              </a:rPr>
              <a:t>TR</a:t>
            </a:r>
            <a:endParaRPr lang="en-GB" sz="3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940" b="0" u="none" strike="noStrike">
                <a:solidFill>
                  <a:srgbClr val="1F2937"/>
                </a:solidFill>
                <a:effectLst/>
                <a:uFillTx/>
                <a:latin typeface="Arial"/>
              </a:rPr>
              <a:t>Technical Report</a:t>
            </a:r>
            <a:endParaRPr lang="en-GB" sz="19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Picture 2"/>
          <p:cNvPicPr/>
          <p:nvPr/>
        </p:nvPicPr>
        <p:blipFill>
          <a:blip r:embed="rId1"/>
          <a:stretch/>
        </p:blipFill>
        <p:spPr>
          <a:xfrm>
            <a:off x="548640" y="3515400"/>
            <a:ext cx="11113920" cy="2437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Aptos Display"/>
                <a:ea typeface="Aptos Display"/>
              </a:rPr>
              <a:t>3GPP Traffic Model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cxnSp>
        <p:nvCxnSpPr>
          <p:cNvPr id="85" name="S05_1_line"/>
          <p:cNvCxnSpPr/>
          <p:nvPr/>
        </p:nvCxnSpPr>
        <p:spPr>
          <a:xfrm>
            <a:off x="2266200" y="3922920"/>
            <a:ext cx="8763480" cy="1080"/>
          </a:xfrm>
          <a:prstGeom prst="straightConnector1">
            <a:avLst/>
          </a:prstGeom>
          <a:ln w="22860">
            <a:solidFill>
              <a:srgbClr val="1F2937"/>
            </a:solidFill>
            <a:round/>
            <a:tailEnd len="med" type="triangle" w="med"/>
          </a:ln>
        </p:spPr>
      </p:cxnSp>
      <p:sp>
        <p:nvSpPr>
          <p:cNvPr id="86" name="S05_2"/>
          <p:cNvSpPr/>
          <p:nvPr/>
        </p:nvSpPr>
        <p:spPr>
          <a:xfrm>
            <a:off x="11067120" y="3788640"/>
            <a:ext cx="57492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800" b="0" i="1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</a:t>
            </a: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 [ms]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7" name="S05_3_line"/>
          <p:cNvCxnSpPr/>
          <p:nvPr/>
        </p:nvCxnSpPr>
        <p:spPr>
          <a:xfrm>
            <a:off x="2372040" y="2099520"/>
            <a:ext cx="1080" cy="2592360"/>
          </a:xfrm>
          <a:prstGeom prst="straightConnector1">
            <a:avLst/>
          </a:prstGeom>
          <a:ln w="11430">
            <a:solidFill>
              <a:srgbClr val="6B7280"/>
            </a:solidFill>
            <a:prstDash val="dash"/>
            <a:round/>
          </a:ln>
        </p:spPr>
      </p:cxnSp>
      <p:sp>
        <p:nvSpPr>
          <p:cNvPr id="88" name="S05_4"/>
          <p:cNvSpPr/>
          <p:nvPr/>
        </p:nvSpPr>
        <p:spPr>
          <a:xfrm>
            <a:off x="2084040" y="4709880"/>
            <a:ext cx="5749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0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9" name="S05_5_line"/>
          <p:cNvCxnSpPr/>
          <p:nvPr/>
        </p:nvCxnSpPr>
        <p:spPr>
          <a:xfrm>
            <a:off x="4131360" y="2099520"/>
            <a:ext cx="1080" cy="2592360"/>
          </a:xfrm>
          <a:prstGeom prst="straightConnector1">
            <a:avLst/>
          </a:prstGeom>
          <a:ln w="11430">
            <a:solidFill>
              <a:srgbClr val="6B7280"/>
            </a:solidFill>
            <a:prstDash val="dash"/>
            <a:round/>
          </a:ln>
        </p:spPr>
      </p:cxnSp>
      <p:sp>
        <p:nvSpPr>
          <p:cNvPr id="90" name="S05_6"/>
          <p:cNvSpPr/>
          <p:nvPr/>
        </p:nvSpPr>
        <p:spPr>
          <a:xfrm>
            <a:off x="3843720" y="4709880"/>
            <a:ext cx="5749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8.33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1" name="S05_7_line"/>
          <p:cNvCxnSpPr/>
          <p:nvPr/>
        </p:nvCxnSpPr>
        <p:spPr>
          <a:xfrm>
            <a:off x="5891040" y="2099520"/>
            <a:ext cx="1080" cy="2592360"/>
          </a:xfrm>
          <a:prstGeom prst="straightConnector1">
            <a:avLst/>
          </a:prstGeom>
          <a:ln w="11430">
            <a:solidFill>
              <a:srgbClr val="6B7280"/>
            </a:solidFill>
            <a:prstDash val="dash"/>
            <a:round/>
          </a:ln>
        </p:spPr>
      </p:cxnSp>
      <p:sp>
        <p:nvSpPr>
          <p:cNvPr id="92" name="S05_8"/>
          <p:cNvSpPr/>
          <p:nvPr/>
        </p:nvSpPr>
        <p:spPr>
          <a:xfrm>
            <a:off x="5603040" y="4709880"/>
            <a:ext cx="5749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16.67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" name="S05_9_line"/>
          <p:cNvCxnSpPr/>
          <p:nvPr/>
        </p:nvCxnSpPr>
        <p:spPr>
          <a:xfrm>
            <a:off x="7650360" y="2099520"/>
            <a:ext cx="1080" cy="2592360"/>
          </a:xfrm>
          <a:prstGeom prst="straightConnector1">
            <a:avLst/>
          </a:prstGeom>
          <a:ln w="11430">
            <a:solidFill>
              <a:srgbClr val="6B7280"/>
            </a:solidFill>
            <a:prstDash val="dash"/>
            <a:round/>
          </a:ln>
        </p:spPr>
      </p:cxnSp>
      <p:sp>
        <p:nvSpPr>
          <p:cNvPr id="94" name="S05_10"/>
          <p:cNvSpPr/>
          <p:nvPr/>
        </p:nvSpPr>
        <p:spPr>
          <a:xfrm>
            <a:off x="7362720" y="4709880"/>
            <a:ext cx="5749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25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5" name="S05_11_line"/>
          <p:cNvCxnSpPr/>
          <p:nvPr/>
        </p:nvCxnSpPr>
        <p:spPr>
          <a:xfrm>
            <a:off x="9410040" y="2099520"/>
            <a:ext cx="1080" cy="2592360"/>
          </a:xfrm>
          <a:prstGeom prst="straightConnector1">
            <a:avLst/>
          </a:prstGeom>
          <a:ln w="11430">
            <a:solidFill>
              <a:srgbClr val="6B7280"/>
            </a:solidFill>
            <a:prstDash val="dash"/>
            <a:round/>
          </a:ln>
        </p:spPr>
      </p:cxnSp>
      <p:sp>
        <p:nvSpPr>
          <p:cNvPr id="96" name="S05_12"/>
          <p:cNvSpPr/>
          <p:nvPr/>
        </p:nvSpPr>
        <p:spPr>
          <a:xfrm>
            <a:off x="9122040" y="4709880"/>
            <a:ext cx="5749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33.33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05_13"/>
          <p:cNvSpPr/>
          <p:nvPr/>
        </p:nvSpPr>
        <p:spPr>
          <a:xfrm>
            <a:off x="2498760" y="3155400"/>
            <a:ext cx="526680" cy="766800"/>
          </a:xfrm>
          <a:prstGeom prst="rect">
            <a:avLst/>
          </a:prstGeom>
          <a:solidFill>
            <a:srgbClr val="DBEAFE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endParaRPr lang="en-US" sz="1200" b="1" u="none" strike="noStrike">
              <a:solidFill>
                <a:srgbClr val="2563EB"/>
              </a:solidFill>
              <a:effectLst/>
              <a:uFillTx/>
              <a:latin typeface="Aptos"/>
            </a:endParaRPr>
          </a:p>
        </p:txBody>
      </p:sp>
      <p:sp>
        <p:nvSpPr>
          <p:cNvPr id="98" name="S05_14"/>
          <p:cNvSpPr/>
          <p:nvPr/>
        </p:nvSpPr>
        <p:spPr>
          <a:xfrm>
            <a:off x="3899520" y="3278160"/>
            <a:ext cx="526680" cy="643680"/>
          </a:xfrm>
          <a:prstGeom prst="rect">
            <a:avLst/>
          </a:prstGeom>
          <a:solidFill>
            <a:srgbClr val="DBEAFE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endParaRPr lang="en-US" sz="1200" b="1" u="none" strike="noStrike">
              <a:solidFill>
                <a:srgbClr val="2563EB"/>
              </a:solidFill>
              <a:effectLst/>
              <a:uFillTx/>
              <a:latin typeface="Aptos"/>
            </a:endParaRPr>
          </a:p>
        </p:txBody>
      </p:sp>
      <p:sp>
        <p:nvSpPr>
          <p:cNvPr id="99" name="S05_15"/>
          <p:cNvSpPr/>
          <p:nvPr/>
        </p:nvSpPr>
        <p:spPr>
          <a:xfrm>
            <a:off x="6271200" y="3032280"/>
            <a:ext cx="526680" cy="889560"/>
          </a:xfrm>
          <a:prstGeom prst="rect">
            <a:avLst/>
          </a:prstGeom>
          <a:solidFill>
            <a:srgbClr val="DBEAFE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endParaRPr lang="en-US" sz="1200" b="1" u="none" strike="noStrike">
              <a:solidFill>
                <a:srgbClr val="2563EB"/>
              </a:solidFill>
              <a:effectLst/>
              <a:uFillTx/>
              <a:latin typeface="Aptos"/>
            </a:endParaRPr>
          </a:p>
        </p:txBody>
      </p:sp>
      <p:sp>
        <p:nvSpPr>
          <p:cNvPr id="100" name="S05_16"/>
          <p:cNvSpPr/>
          <p:nvPr/>
        </p:nvSpPr>
        <p:spPr>
          <a:xfrm>
            <a:off x="7566120" y="3209040"/>
            <a:ext cx="526680" cy="712800"/>
          </a:xfrm>
          <a:prstGeom prst="rect">
            <a:avLst/>
          </a:prstGeom>
          <a:solidFill>
            <a:srgbClr val="DBEAFE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endParaRPr lang="en-US" sz="1200" b="1" u="none" strike="noStrike">
              <a:solidFill>
                <a:srgbClr val="2563EB"/>
              </a:solidFill>
              <a:effectLst/>
              <a:uFillTx/>
              <a:latin typeface="Aptos"/>
            </a:endParaRPr>
          </a:p>
        </p:txBody>
      </p:sp>
      <p:sp>
        <p:nvSpPr>
          <p:cNvPr id="101" name="S05_17"/>
          <p:cNvSpPr/>
          <p:nvPr/>
        </p:nvSpPr>
        <p:spPr>
          <a:xfrm>
            <a:off x="9600120" y="3093840"/>
            <a:ext cx="526680" cy="828000"/>
          </a:xfrm>
          <a:prstGeom prst="rect">
            <a:avLst/>
          </a:prstGeom>
          <a:solidFill>
            <a:srgbClr val="DBEAFE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endParaRPr lang="en-US" sz="1200" b="1" u="none" strike="noStrike">
              <a:solidFill>
                <a:srgbClr val="2563EB"/>
              </a:solidFill>
              <a:effectLst/>
              <a:uFillTx/>
              <a:latin typeface="Aptos"/>
            </a:endParaRPr>
          </a:p>
        </p:txBody>
      </p:sp>
      <p:cxnSp>
        <p:nvCxnSpPr>
          <p:cNvPr id="102" name="S05_18_line"/>
          <p:cNvCxnSpPr/>
          <p:nvPr/>
        </p:nvCxnSpPr>
        <p:spPr>
          <a:xfrm>
            <a:off x="4131360" y="2003400"/>
            <a:ext cx="1760760" cy="1080"/>
          </a:xfrm>
          <a:prstGeom prst="straightConnector1">
            <a:avLst/>
          </a:prstGeom>
          <a:ln w="17145">
            <a:solidFill>
              <a:srgbClr val="1F2937"/>
            </a:solidFill>
            <a:round/>
            <a:headEnd len="med" type="arrow" w="med"/>
            <a:tailEnd len="med" type="arrow" w="med"/>
          </a:ln>
        </p:spPr>
      </p:cxnSp>
      <p:cxnSp>
        <p:nvCxnSpPr>
          <p:cNvPr id="103" name="S05_19_line"/>
          <p:cNvCxnSpPr/>
          <p:nvPr/>
        </p:nvCxnSpPr>
        <p:spPr>
          <a:xfrm>
            <a:off x="5891040" y="2847960"/>
            <a:ext cx="380880" cy="1080"/>
          </a:xfrm>
          <a:prstGeom prst="straightConnector1">
            <a:avLst/>
          </a:prstGeom>
          <a:ln w="17145">
            <a:solidFill>
              <a:srgbClr val="2563EB"/>
            </a:solidFill>
            <a:round/>
            <a:headEnd len="med" type="arrow" w="med"/>
            <a:tailEnd len="med" type="arrow" w="med"/>
          </a:ln>
        </p:spPr>
      </p:cxnSp>
      <p:sp>
        <p:nvSpPr>
          <p:cNvPr id="104" name="S05_20"/>
          <p:cNvSpPr/>
          <p:nvPr/>
        </p:nvSpPr>
        <p:spPr>
          <a:xfrm>
            <a:off x="5602680" y="2509200"/>
            <a:ext cx="11505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jitter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05_21"/>
          <p:cNvSpPr/>
          <p:nvPr/>
        </p:nvSpPr>
        <p:spPr>
          <a:xfrm>
            <a:off x="9995400" y="2387520"/>
            <a:ext cx="1438560" cy="47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size varies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per buffer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05_22"/>
          <p:cNvSpPr/>
          <p:nvPr/>
        </p:nvSpPr>
        <p:spPr>
          <a:xfrm>
            <a:off x="2794320" y="3922920"/>
            <a:ext cx="104400" cy="248400"/>
          </a:xfrm>
          <a:prstGeom prst="rect">
            <a:avLst/>
          </a:prstGeom>
          <a:solidFill>
            <a:srgbClr val="FFEDD5"/>
          </a:solidFill>
          <a:ln w="2286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45000" rIns="522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7" name="S05_23"/>
          <p:cNvSpPr/>
          <p:nvPr/>
        </p:nvSpPr>
        <p:spPr>
          <a:xfrm>
            <a:off x="4905720" y="3922920"/>
            <a:ext cx="104400" cy="248400"/>
          </a:xfrm>
          <a:prstGeom prst="rect">
            <a:avLst/>
          </a:prstGeom>
          <a:solidFill>
            <a:srgbClr val="FFEDD5"/>
          </a:solidFill>
          <a:ln w="2286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45000" rIns="522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8" name="S05_24"/>
          <p:cNvSpPr/>
          <p:nvPr/>
        </p:nvSpPr>
        <p:spPr>
          <a:xfrm>
            <a:off x="7017120" y="3922920"/>
            <a:ext cx="104400" cy="248400"/>
          </a:xfrm>
          <a:prstGeom prst="rect">
            <a:avLst/>
          </a:prstGeom>
          <a:solidFill>
            <a:srgbClr val="FFEDD5"/>
          </a:solidFill>
          <a:ln w="2286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45000" rIns="522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9" name="S05_25"/>
          <p:cNvSpPr/>
          <p:nvPr/>
        </p:nvSpPr>
        <p:spPr>
          <a:xfrm>
            <a:off x="9128520" y="3922920"/>
            <a:ext cx="104400" cy="248400"/>
          </a:xfrm>
          <a:prstGeom prst="rect">
            <a:avLst/>
          </a:prstGeom>
          <a:solidFill>
            <a:srgbClr val="FFEDD5"/>
          </a:solidFill>
          <a:ln w="2286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45000" rIns="522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110" name="S05_26_line"/>
          <p:cNvCxnSpPr/>
          <p:nvPr/>
        </p:nvCxnSpPr>
        <p:spPr>
          <a:xfrm>
            <a:off x="2794320" y="4402800"/>
            <a:ext cx="2112480" cy="1080"/>
          </a:xfrm>
          <a:prstGeom prst="straightConnector1">
            <a:avLst/>
          </a:prstGeom>
          <a:ln w="17145">
            <a:solidFill>
              <a:srgbClr val="EA580C"/>
            </a:solidFill>
            <a:round/>
            <a:headEnd len="med" type="arrow" w="med"/>
            <a:tailEnd len="med" type="arrow" w="med"/>
          </a:ln>
        </p:spPr>
      </p:cxnSp>
      <p:sp>
        <p:nvSpPr>
          <p:cNvPr id="111" name="S05_27"/>
          <p:cNvSpPr/>
          <p:nvPr/>
        </p:nvSpPr>
        <p:spPr>
          <a:xfrm>
            <a:off x="548640" y="3251160"/>
            <a:ext cx="1630440" cy="47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DL</a:t>
            </a:r>
            <a:r>
              <a:rPr lang="en-US" sz="1800" b="0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 eye buffers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AP → STA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05_28"/>
          <p:cNvSpPr/>
          <p:nvPr/>
        </p:nvSpPr>
        <p:spPr>
          <a:xfrm>
            <a:off x="548640" y="3980520"/>
            <a:ext cx="1630440" cy="47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EA580C"/>
                </a:solidFill>
                <a:effectLst/>
                <a:uFillTx/>
                <a:latin typeface="Aptos"/>
              </a:rPr>
              <a:t>UL</a:t>
            </a:r>
            <a:r>
              <a:rPr lang="en-US" sz="1800" b="0" u="none" strike="noStrike">
                <a:solidFill>
                  <a:srgbClr val="EA580C"/>
                </a:solidFill>
                <a:effectLst/>
                <a:uFillTx/>
                <a:latin typeface="Aptos"/>
              </a:rPr>
              <a:t> pose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STA → AP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05_29"/>
          <p:cNvSpPr/>
          <p:nvPr/>
        </p:nvSpPr>
        <p:spPr>
          <a:xfrm>
            <a:off x="932400" y="5388120"/>
            <a:ext cx="109468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Frame size:</a:t>
            </a:r>
            <a:r>
              <a:rPr lang="en-US" sz="2300" b="0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 truncated Gaussian,  M = R · 10</a:t>
            </a:r>
            <a:r>
              <a:rPr lang="en-US" sz="2300" b="0" u="none" strike="noStrike" baseline="30000">
                <a:solidFill>
                  <a:srgbClr val="2563EB"/>
                </a:solidFill>
                <a:effectLst/>
                <a:uFillTx/>
                <a:latin typeface="Aptos"/>
              </a:rPr>
              <a:t>6</a:t>
            </a:r>
            <a:r>
              <a:rPr lang="en-US" sz="2300" b="0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 / (2F) / 8,  STD 10.5 % of M,  ±50 %</a:t>
            </a:r>
            <a:endParaRPr lang="en-GB" sz="2300" b="0" u="none" strike="noStrike">
              <a:solidFill>
                <a:srgbClr val="2563EB"/>
              </a:solidFill>
              <a:effectLst/>
              <a:uFillTx/>
              <a:latin typeface="Arial"/>
            </a:endParaRPr>
          </a:p>
        </p:txBody>
      </p:sp>
      <p:sp>
        <p:nvSpPr>
          <p:cNvPr id="114" name="S05_30"/>
          <p:cNvSpPr/>
          <p:nvPr/>
        </p:nvSpPr>
        <p:spPr>
          <a:xfrm>
            <a:off x="932400" y="5724000"/>
            <a:ext cx="959616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Jitter:</a:t>
            </a:r>
            <a:r>
              <a:rPr lang="en-US" sz="2300" b="0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 truncated Gaussian,  STD 2 ms,  ±4 ms</a:t>
            </a:r>
            <a:endParaRPr lang="en-GB" sz="2300" b="0" u="none" strike="noStrike">
              <a:solidFill>
                <a:srgbClr val="2563EB"/>
              </a:solidFill>
              <a:effectLst/>
              <a:uFillTx/>
              <a:latin typeface="Arial"/>
            </a:endParaRPr>
          </a:p>
        </p:txBody>
      </p:sp>
      <p:sp>
        <p:nvSpPr>
          <p:cNvPr id="115" name="S05_label"/>
          <p:cNvSpPr/>
          <p:nvPr/>
        </p:nvSpPr>
        <p:spPr>
          <a:xfrm>
            <a:off x="4755960" y="1832400"/>
            <a:ext cx="492480" cy="34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8.33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05_label"/>
          <p:cNvSpPr/>
          <p:nvPr/>
        </p:nvSpPr>
        <p:spPr>
          <a:xfrm>
            <a:off x="3603240" y="4308480"/>
            <a:ext cx="492840" cy="187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10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07_12"/>
          <p:cNvSpPr/>
          <p:nvPr/>
        </p:nvSpPr>
        <p:spPr>
          <a:xfrm>
            <a:off x="929160" y="6197760"/>
            <a:ext cx="1072548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23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Based on </a:t>
            </a:r>
            <a:r>
              <a:rPr lang="en-US" sz="23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Table 6.5.3.1-1</a:t>
            </a:r>
            <a:endParaRPr lang="en-GB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Aptos Display"/>
                <a:ea typeface="Aptos Display"/>
              </a:rPr>
              <a:t>Traffic Generator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19" name="S06_1"/>
          <p:cNvSpPr/>
          <p:nvPr/>
        </p:nvSpPr>
        <p:spPr>
          <a:xfrm>
            <a:off x="548640" y="2755440"/>
            <a:ext cx="2623320" cy="143028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2286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XrTrafficApp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06_2"/>
          <p:cNvSpPr/>
          <p:nvPr/>
        </p:nvSpPr>
        <p:spPr>
          <a:xfrm>
            <a:off x="4246920" y="1801080"/>
            <a:ext cx="2265480" cy="107244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DL video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R = 10 Mbit/s, </a:t>
            </a:r>
            <a:br>
              <a:rPr sz="1600"/>
            </a:b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 = 60 fps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06_3"/>
          <p:cNvSpPr/>
          <p:nvPr/>
        </p:nvSpPr>
        <p:spPr>
          <a:xfrm>
            <a:off x="7348320" y="1980000"/>
            <a:ext cx="1430280" cy="7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TID 5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06_4"/>
          <p:cNvSpPr/>
          <p:nvPr/>
        </p:nvSpPr>
        <p:spPr>
          <a:xfrm>
            <a:off x="9614880" y="1980000"/>
            <a:ext cx="1430280" cy="7146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AC_VI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3" name="S06_5_line"/>
          <p:cNvCxnSpPr/>
          <p:nvPr/>
        </p:nvCxnSpPr>
        <p:spPr>
          <a:xfrm>
            <a:off x="3173040" y="3471120"/>
            <a:ext cx="537840" cy="1080"/>
          </a:xfrm>
          <a:prstGeom prst="straightConnector1">
            <a:avLst/>
          </a:prstGeom>
          <a:ln w="28575">
            <a:solidFill>
              <a:srgbClr val="1F2937"/>
            </a:solidFill>
            <a:round/>
          </a:ln>
        </p:spPr>
      </p:cxnSp>
      <p:cxnSp>
        <p:nvCxnSpPr>
          <p:cNvPr id="124" name="S06_5_line"/>
          <p:cNvCxnSpPr/>
          <p:nvPr/>
        </p:nvCxnSpPr>
        <p:spPr>
          <a:xfrm flipV="1">
            <a:off x="3709800" y="2337840"/>
            <a:ext cx="1080" cy="1134360"/>
          </a:xfrm>
          <a:prstGeom prst="straightConnector1">
            <a:avLst/>
          </a:prstGeom>
          <a:ln w="28575">
            <a:solidFill>
              <a:srgbClr val="1F2937"/>
            </a:solidFill>
            <a:round/>
          </a:ln>
        </p:spPr>
      </p:cxnSp>
      <p:cxnSp>
        <p:nvCxnSpPr>
          <p:cNvPr id="125" name="S06_5_line"/>
          <p:cNvCxnSpPr/>
          <p:nvPr/>
        </p:nvCxnSpPr>
        <p:spPr>
          <a:xfrm>
            <a:off x="3709800" y="2337840"/>
            <a:ext cx="537840" cy="1080"/>
          </a:xfrm>
          <a:prstGeom prst="straightConnector1">
            <a:avLst/>
          </a:prstGeom>
          <a:ln w="28575">
            <a:solidFill>
              <a:srgbClr val="1F2937"/>
            </a:solidFill>
            <a:round/>
            <a:tailEnd len="med" type="triangle" w="med"/>
          </a:ln>
        </p:spPr>
      </p:cxnSp>
      <p:cxnSp>
        <p:nvCxnSpPr>
          <p:cNvPr id="126" name="S06_6_line"/>
          <p:cNvCxnSpPr/>
          <p:nvPr/>
        </p:nvCxnSpPr>
        <p:spPr>
          <a:xfrm>
            <a:off x="6513120" y="2337840"/>
            <a:ext cx="836280" cy="1080"/>
          </a:xfrm>
          <a:prstGeom prst="straightConnector1">
            <a:avLst/>
          </a:prstGeom>
          <a:ln w="22860">
            <a:solidFill>
              <a:srgbClr val="2563EB"/>
            </a:solidFill>
            <a:round/>
            <a:tailEnd len="med" type="triangle" w="med"/>
          </a:ln>
        </p:spPr>
      </p:cxnSp>
      <p:cxnSp>
        <p:nvCxnSpPr>
          <p:cNvPr id="127" name="S06_7_line"/>
          <p:cNvCxnSpPr/>
          <p:nvPr/>
        </p:nvCxnSpPr>
        <p:spPr>
          <a:xfrm>
            <a:off x="8779680" y="2337840"/>
            <a:ext cx="836280" cy="1080"/>
          </a:xfrm>
          <a:prstGeom prst="straightConnector1">
            <a:avLst/>
          </a:prstGeom>
          <a:ln w="22860">
            <a:solidFill>
              <a:srgbClr val="2563EB"/>
            </a:solidFill>
            <a:round/>
            <a:tailEnd len="med" type="triangle" w="med"/>
          </a:ln>
        </p:spPr>
      </p:cxnSp>
      <p:sp>
        <p:nvSpPr>
          <p:cNvPr id="128" name="S06_8"/>
          <p:cNvSpPr/>
          <p:nvPr/>
        </p:nvSpPr>
        <p:spPr>
          <a:xfrm>
            <a:off x="4246920" y="3948480"/>
            <a:ext cx="2265480" cy="107244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2286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UL pose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60 B payload </a:t>
            </a:r>
            <a:br>
              <a:rPr sz="1600"/>
            </a:b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every 10 ms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06_9"/>
          <p:cNvSpPr/>
          <p:nvPr/>
        </p:nvSpPr>
        <p:spPr>
          <a:xfrm>
            <a:off x="7348320" y="4127400"/>
            <a:ext cx="1430280" cy="7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86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TID 6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06_10"/>
          <p:cNvSpPr/>
          <p:nvPr/>
        </p:nvSpPr>
        <p:spPr>
          <a:xfrm>
            <a:off x="9614880" y="4127400"/>
            <a:ext cx="1430280" cy="71460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2286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AC_VO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S06_11_line"/>
          <p:cNvCxnSpPr/>
          <p:nvPr/>
        </p:nvCxnSpPr>
        <p:spPr>
          <a:xfrm>
            <a:off x="3173040" y="3471120"/>
            <a:ext cx="537840" cy="1080"/>
          </a:xfrm>
          <a:prstGeom prst="straightConnector1">
            <a:avLst/>
          </a:prstGeom>
          <a:ln w="28575">
            <a:solidFill>
              <a:srgbClr val="1F2937"/>
            </a:solidFill>
            <a:round/>
          </a:ln>
        </p:spPr>
      </p:cxnSp>
      <p:cxnSp>
        <p:nvCxnSpPr>
          <p:cNvPr id="132" name="S06_11_line"/>
          <p:cNvCxnSpPr/>
          <p:nvPr/>
        </p:nvCxnSpPr>
        <p:spPr>
          <a:xfrm>
            <a:off x="3709800" y="3471120"/>
            <a:ext cx="1080" cy="1015200"/>
          </a:xfrm>
          <a:prstGeom prst="straightConnector1">
            <a:avLst/>
          </a:prstGeom>
          <a:ln w="28575">
            <a:solidFill>
              <a:srgbClr val="1F2937"/>
            </a:solidFill>
            <a:round/>
          </a:ln>
        </p:spPr>
      </p:cxnSp>
      <p:cxnSp>
        <p:nvCxnSpPr>
          <p:cNvPr id="133" name="S06_11_line"/>
          <p:cNvCxnSpPr/>
          <p:nvPr/>
        </p:nvCxnSpPr>
        <p:spPr>
          <a:xfrm>
            <a:off x="3709800" y="4485240"/>
            <a:ext cx="537840" cy="1080"/>
          </a:xfrm>
          <a:prstGeom prst="straightConnector1">
            <a:avLst/>
          </a:prstGeom>
          <a:ln w="28575">
            <a:solidFill>
              <a:srgbClr val="1F2937"/>
            </a:solidFill>
            <a:round/>
            <a:tailEnd len="med" type="triangle" w="med"/>
          </a:ln>
        </p:spPr>
      </p:cxnSp>
      <p:cxnSp>
        <p:nvCxnSpPr>
          <p:cNvPr id="134" name="S06_12_line"/>
          <p:cNvCxnSpPr/>
          <p:nvPr/>
        </p:nvCxnSpPr>
        <p:spPr>
          <a:xfrm>
            <a:off x="6513120" y="4485240"/>
            <a:ext cx="836280" cy="1080"/>
          </a:xfrm>
          <a:prstGeom prst="straightConnector1">
            <a:avLst/>
          </a:prstGeom>
          <a:ln w="22860">
            <a:solidFill>
              <a:srgbClr val="EA580C"/>
            </a:solidFill>
            <a:round/>
            <a:tailEnd len="med" type="triangle" w="med"/>
          </a:ln>
        </p:spPr>
      </p:cxnSp>
      <p:cxnSp>
        <p:nvCxnSpPr>
          <p:cNvPr id="135" name="S06_13_line"/>
          <p:cNvCxnSpPr/>
          <p:nvPr/>
        </p:nvCxnSpPr>
        <p:spPr>
          <a:xfrm>
            <a:off x="8779680" y="4485240"/>
            <a:ext cx="836280" cy="1080"/>
          </a:xfrm>
          <a:prstGeom prst="straightConnector1">
            <a:avLst/>
          </a:prstGeom>
          <a:ln w="22860">
            <a:solidFill>
              <a:srgbClr val="EA580C"/>
            </a:solidFill>
            <a:round/>
            <a:tailEnd len="med" type="triangle" w="med"/>
          </a:ln>
        </p:spPr>
      </p:cxnSp>
      <p:sp>
        <p:nvSpPr>
          <p:cNvPr id="136" name="S06_14"/>
          <p:cNvSpPr/>
          <p:nvPr/>
        </p:nvSpPr>
        <p:spPr>
          <a:xfrm>
            <a:off x="3600000" y="5297400"/>
            <a:ext cx="8056800" cy="70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3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ToS byte → 802.11 user priority (TID) → access category</a:t>
            </a:r>
            <a:endParaRPr lang="en-GB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06_label"/>
          <p:cNvSpPr/>
          <p:nvPr/>
        </p:nvSpPr>
        <p:spPr>
          <a:xfrm>
            <a:off x="6600600" y="2225160"/>
            <a:ext cx="659880" cy="224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IP ToS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06_label"/>
          <p:cNvSpPr/>
          <p:nvPr/>
        </p:nvSpPr>
        <p:spPr>
          <a:xfrm>
            <a:off x="6600600" y="4372560"/>
            <a:ext cx="659880" cy="224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IP ToS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Aptos Display"/>
                <a:ea typeface="Aptos Display"/>
              </a:rPr>
              <a:t>Scenario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40" name="S07_1"/>
          <p:cNvSpPr/>
          <p:nvPr/>
        </p:nvSpPr>
        <p:spPr>
          <a:xfrm>
            <a:off x="1422360" y="2729880"/>
            <a:ext cx="2043720" cy="14594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2286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AP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07_2"/>
          <p:cNvSpPr/>
          <p:nvPr/>
        </p:nvSpPr>
        <p:spPr>
          <a:xfrm>
            <a:off x="8724600" y="2729880"/>
            <a:ext cx="2043720" cy="14594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2286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STA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XR headset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2" name="S07_3_line"/>
          <p:cNvCxnSpPr/>
          <p:nvPr/>
        </p:nvCxnSpPr>
        <p:spPr>
          <a:xfrm flipV="1">
            <a:off x="2444400" y="2145600"/>
            <a:ext cx="1080" cy="585000"/>
          </a:xfrm>
          <a:prstGeom prst="straightConnector1">
            <a:avLst/>
          </a:prstGeom>
          <a:ln w="34290">
            <a:solidFill>
              <a:srgbClr val="1F2937"/>
            </a:solidFill>
            <a:round/>
          </a:ln>
        </p:spPr>
      </p:cxnSp>
      <p:sp>
        <p:nvSpPr>
          <p:cNvPr id="143" name="S07_4"/>
          <p:cNvSpPr/>
          <p:nvPr/>
        </p:nvSpPr>
        <p:spPr>
          <a:xfrm>
            <a:off x="2342520" y="1999440"/>
            <a:ext cx="203400" cy="20340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144" name="S07_5_line"/>
          <p:cNvCxnSpPr/>
          <p:nvPr/>
        </p:nvCxnSpPr>
        <p:spPr>
          <a:xfrm flipV="1">
            <a:off x="9747000" y="2145600"/>
            <a:ext cx="1080" cy="585000"/>
          </a:xfrm>
          <a:prstGeom prst="straightConnector1">
            <a:avLst/>
          </a:prstGeom>
          <a:ln w="34290">
            <a:solidFill>
              <a:srgbClr val="1F2937"/>
            </a:solidFill>
            <a:round/>
          </a:ln>
        </p:spPr>
      </p:cxnSp>
      <p:sp>
        <p:nvSpPr>
          <p:cNvPr id="145" name="S07_6"/>
          <p:cNvSpPr/>
          <p:nvPr/>
        </p:nvSpPr>
        <p:spPr>
          <a:xfrm>
            <a:off x="9644760" y="1999440"/>
            <a:ext cx="203400" cy="20340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146" name="S07_7_line"/>
          <p:cNvCxnSpPr/>
          <p:nvPr/>
        </p:nvCxnSpPr>
        <p:spPr>
          <a:xfrm>
            <a:off x="3466800" y="3094920"/>
            <a:ext cx="5258880" cy="1080"/>
          </a:xfrm>
          <a:prstGeom prst="straightConnector1">
            <a:avLst/>
          </a:prstGeom>
          <a:ln w="34290">
            <a:solidFill>
              <a:srgbClr val="2563EB"/>
            </a:solidFill>
            <a:round/>
            <a:tailEnd len="med" type="triangle" w="med"/>
          </a:ln>
        </p:spPr>
      </p:cxnSp>
      <p:cxnSp>
        <p:nvCxnSpPr>
          <p:cNvPr id="147" name="S07_8_line"/>
          <p:cNvCxnSpPr/>
          <p:nvPr/>
        </p:nvCxnSpPr>
        <p:spPr>
          <a:xfrm flipH="1">
            <a:off x="3466800" y="3825000"/>
            <a:ext cx="5258880" cy="1080"/>
          </a:xfrm>
          <a:prstGeom prst="straightConnector1">
            <a:avLst/>
          </a:prstGeom>
          <a:ln w="34290">
            <a:solidFill>
              <a:srgbClr val="EA580C"/>
            </a:solidFill>
            <a:round/>
            <a:tailEnd len="med" type="triangle" w="med"/>
          </a:ln>
        </p:spPr>
      </p:cxnSp>
      <p:cxnSp>
        <p:nvCxnSpPr>
          <p:cNvPr id="148" name="S07_9_line"/>
          <p:cNvCxnSpPr/>
          <p:nvPr/>
        </p:nvCxnSpPr>
        <p:spPr>
          <a:xfrm>
            <a:off x="2444400" y="4774320"/>
            <a:ext cx="7303680" cy="1080"/>
          </a:xfrm>
          <a:prstGeom prst="straightConnector1">
            <a:avLst/>
          </a:prstGeom>
          <a:ln w="17145">
            <a:solidFill>
              <a:srgbClr val="1F2937"/>
            </a:solidFill>
            <a:round/>
            <a:headEnd len="med" type="arrow" w="med"/>
            <a:tailEnd len="med" type="arrow" w="med"/>
          </a:ln>
        </p:spPr>
      </p:cxnSp>
      <p:cxnSp>
        <p:nvCxnSpPr>
          <p:cNvPr id="149" name="S07_10_line"/>
          <p:cNvCxnSpPr/>
          <p:nvPr/>
        </p:nvCxnSpPr>
        <p:spPr>
          <a:xfrm>
            <a:off x="2444400" y="4263120"/>
            <a:ext cx="1080" cy="658440"/>
          </a:xfrm>
          <a:prstGeom prst="straightConnector1">
            <a:avLst/>
          </a:prstGeom>
          <a:ln w="11430">
            <a:solidFill>
              <a:srgbClr val="6B7280"/>
            </a:solidFill>
            <a:prstDash val="dash"/>
            <a:round/>
          </a:ln>
        </p:spPr>
      </p:cxnSp>
      <p:cxnSp>
        <p:nvCxnSpPr>
          <p:cNvPr id="150" name="S07_11_line"/>
          <p:cNvCxnSpPr/>
          <p:nvPr/>
        </p:nvCxnSpPr>
        <p:spPr>
          <a:xfrm>
            <a:off x="9747000" y="4263120"/>
            <a:ext cx="1080" cy="658440"/>
          </a:xfrm>
          <a:prstGeom prst="straightConnector1">
            <a:avLst/>
          </a:prstGeom>
          <a:ln w="11430">
            <a:solidFill>
              <a:srgbClr val="6B7280"/>
            </a:solidFill>
            <a:prstDash val="dash"/>
            <a:round/>
          </a:ln>
        </p:spPr>
      </p:cxnSp>
      <p:sp>
        <p:nvSpPr>
          <p:cNvPr id="151" name="S07_12"/>
          <p:cNvSpPr/>
          <p:nvPr/>
        </p:nvSpPr>
        <p:spPr>
          <a:xfrm>
            <a:off x="2444760" y="5139720"/>
            <a:ext cx="730152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3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802.11a · 54 Mbit/s · channel 36</a:t>
            </a:r>
            <a:endParaRPr lang="en-GB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07_label"/>
          <p:cNvSpPr/>
          <p:nvPr/>
        </p:nvSpPr>
        <p:spPr>
          <a:xfrm>
            <a:off x="4498560" y="2937240"/>
            <a:ext cx="3193200" cy="314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DL video</a:t>
            </a:r>
            <a:r>
              <a:rPr lang="en-US" sz="2100" b="0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 · AC_VI (TID 5)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07_label"/>
          <p:cNvSpPr/>
          <p:nvPr/>
        </p:nvSpPr>
        <p:spPr>
          <a:xfrm>
            <a:off x="4563000" y="3667320"/>
            <a:ext cx="3064680" cy="314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EA580C"/>
                </a:solidFill>
                <a:effectLst/>
                <a:uFillTx/>
                <a:latin typeface="Aptos"/>
              </a:rPr>
              <a:t>UL pose</a:t>
            </a:r>
            <a:r>
              <a:rPr lang="en-US" sz="2100" b="0" u="none" strike="noStrike">
                <a:solidFill>
                  <a:srgbClr val="EA580C"/>
                </a:solidFill>
                <a:effectLst/>
                <a:uFillTx/>
                <a:latin typeface="Aptos"/>
              </a:rPr>
              <a:t> · AC_VO (TID 6)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07_label"/>
          <p:cNvSpPr/>
          <p:nvPr/>
        </p:nvSpPr>
        <p:spPr>
          <a:xfrm>
            <a:off x="5848200" y="4616640"/>
            <a:ext cx="494280" cy="314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3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5 m</a:t>
            </a:r>
            <a:endParaRPr lang="en-GB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Aptos Display"/>
                <a:ea typeface="Aptos Display"/>
              </a:rPr>
              <a:t>Verification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pic>
        <p:nvPicPr>
          <p:cNvPr id="156" name=""/>
          <p:cNvPicPr/>
          <p:nvPr/>
        </p:nvPicPr>
        <p:blipFill>
          <a:blip r:embed="rId1"/>
          <a:stretch/>
        </p:blipFill>
        <p:spPr>
          <a:xfrm>
            <a:off x="360000" y="1800000"/>
            <a:ext cx="11188800" cy="395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Aptos Display"/>
                <a:ea typeface="Aptos Display"/>
              </a:rPr>
              <a:t>Verification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pic>
        <p:nvPicPr>
          <p:cNvPr id="158" name=""/>
          <p:cNvPicPr/>
          <p:nvPr/>
        </p:nvPicPr>
        <p:blipFill>
          <a:blip r:embed="rId1"/>
          <a:stretch/>
        </p:blipFill>
        <p:spPr>
          <a:xfrm>
            <a:off x="309600" y="1723680"/>
            <a:ext cx="11570400" cy="41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"/>
          <p:cNvPicPr/>
          <p:nvPr/>
        </p:nvPicPr>
        <p:blipFill>
          <a:blip r:embed="rId1"/>
          <a:stretch/>
        </p:blipFill>
        <p:spPr>
          <a:xfrm>
            <a:off x="1260000" y="286560"/>
            <a:ext cx="9000000" cy="321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"/>
          <p:cNvPicPr/>
          <p:nvPr/>
        </p:nvPicPr>
        <p:blipFill>
          <a:blip r:embed="rId2"/>
          <a:stretch/>
        </p:blipFill>
        <p:spPr>
          <a:xfrm>
            <a:off x="1171440" y="3575880"/>
            <a:ext cx="9000000" cy="3225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Aptos Display"/>
                <a:ea typeface="Aptos Display"/>
              </a:rPr>
              <a:t>Results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pic>
        <p:nvPicPr>
          <p:cNvPr id="162" name=""/>
          <p:cNvPicPr/>
          <p:nvPr/>
        </p:nvPicPr>
        <p:blipFill>
          <a:blip r:embed="rId1"/>
          <a:srcRect l="0" t="0" r="25003" b="0"/>
          <a:stretch/>
        </p:blipFill>
        <p:spPr>
          <a:xfrm>
            <a:off x="6897960" y="344880"/>
            <a:ext cx="4318920" cy="59281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63" name=""/>
          <p:cNvGraphicFramePr/>
          <p:nvPr/>
        </p:nvGraphicFramePr>
        <p:xfrm>
          <a:off x="1241280" y="1711800"/>
          <a:ext cx="4708440" cy="1508760"/>
        </p:xfrm>
        <a:graphic>
          <a:graphicData uri="http://schemas.openxmlformats.org/drawingml/2006/table">
            <a:tbl>
              <a:tblPr/>
              <a:tblGrid>
                <a:gridCol w="1569600"/>
                <a:gridCol w="1569600"/>
                <a:gridCol w="1606680"/>
              </a:tblGrid>
              <a:tr h="377640">
                <a:tc>
                  <a:txBody>
                    <a:bodyPr lIns="36000" tIns="36000" rIns="36000" bIns="36000" anchor="t">
                      <a:noAutofit/>
                    </a:bodyPr>
                    <a:p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DL video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UL pose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764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throughput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10.2 Mbit/s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0.07 Mbit/s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764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mean delay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1.29 ms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0.37 ms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64" name=""/>
          <p:cNvPicPr/>
          <p:nvPr/>
        </p:nvPicPr>
        <p:blipFill>
          <a:blip r:embed="rId2"/>
          <a:stretch/>
        </p:blipFill>
        <p:spPr>
          <a:xfrm>
            <a:off x="858960" y="2971440"/>
            <a:ext cx="5389200" cy="3562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Aptos Display"/>
                <a:ea typeface="Aptos Display"/>
              </a:rPr>
              <a:t>What broke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66" name="S11_1"/>
          <p:cNvSpPr/>
          <p:nvPr/>
        </p:nvSpPr>
        <p:spPr>
          <a:xfrm>
            <a:off x="548640" y="1778040"/>
            <a:ext cx="31687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Symptom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11_2"/>
          <p:cNvSpPr/>
          <p:nvPr/>
        </p:nvSpPr>
        <p:spPr>
          <a:xfrm>
            <a:off x="4510800" y="1778040"/>
            <a:ext cx="31687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Cause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11_3"/>
          <p:cNvSpPr/>
          <p:nvPr/>
        </p:nvSpPr>
        <p:spPr>
          <a:xfrm>
            <a:off x="8473320" y="1778040"/>
            <a:ext cx="31687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Fix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11_4"/>
          <p:cNvSpPr/>
          <p:nvPr/>
        </p:nvSpPr>
        <p:spPr>
          <a:xfrm>
            <a:off x="548640" y="2306520"/>
            <a:ext cx="3168720" cy="118764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2286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Jitter only in whole ms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11_5"/>
          <p:cNvSpPr/>
          <p:nvPr/>
        </p:nvSpPr>
        <p:spPr>
          <a:xfrm>
            <a:off x="4510800" y="2306520"/>
            <a:ext cx="3168720" cy="11876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2286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MilliSeconds() takes only integers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11_6"/>
          <p:cNvSpPr/>
          <p:nvPr/>
        </p:nvSpPr>
        <p:spPr>
          <a:xfrm>
            <a:off x="8473320" y="2306520"/>
            <a:ext cx="3168720" cy="118764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 w="228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Time::FromDouble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2" name="S11_7_line"/>
          <p:cNvCxnSpPr/>
          <p:nvPr/>
        </p:nvCxnSpPr>
        <p:spPr>
          <a:xfrm>
            <a:off x="3718440" y="2900520"/>
            <a:ext cx="793440" cy="1080"/>
          </a:xfrm>
          <a:prstGeom prst="straightConnector1">
            <a:avLst/>
          </a:prstGeom>
          <a:ln w="28575">
            <a:solidFill>
              <a:srgbClr val="1F2937"/>
            </a:solidFill>
            <a:round/>
            <a:tailEnd len="med" type="triangle" w="med"/>
          </a:ln>
        </p:spPr>
      </p:cxnSp>
      <p:cxnSp>
        <p:nvCxnSpPr>
          <p:cNvPr id="173" name="S11_8_line"/>
          <p:cNvCxnSpPr/>
          <p:nvPr/>
        </p:nvCxnSpPr>
        <p:spPr>
          <a:xfrm>
            <a:off x="7680600" y="2900520"/>
            <a:ext cx="793440" cy="1080"/>
          </a:xfrm>
          <a:prstGeom prst="straightConnector1">
            <a:avLst/>
          </a:prstGeom>
          <a:ln w="28575">
            <a:solidFill>
              <a:srgbClr val="1F2937"/>
            </a:solidFill>
            <a:round/>
            <a:tailEnd len="med" type="triangle" w="med"/>
          </a:ln>
        </p:spPr>
      </p:cxnSp>
      <p:sp>
        <p:nvSpPr>
          <p:cNvPr id="174" name="S11_9"/>
          <p:cNvSpPr/>
          <p:nvPr/>
        </p:nvSpPr>
        <p:spPr>
          <a:xfrm>
            <a:off x="548640" y="3891240"/>
            <a:ext cx="3168720" cy="118764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2286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4 packets lost at start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11_10"/>
          <p:cNvSpPr/>
          <p:nvPr/>
        </p:nvSpPr>
        <p:spPr>
          <a:xfrm>
            <a:off x="4510800" y="3891240"/>
            <a:ext cx="3168720" cy="11876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2286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ARP queue holds only 3 packets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11_11"/>
          <p:cNvSpPr/>
          <p:nvPr/>
        </p:nvSpPr>
        <p:spPr>
          <a:xfrm>
            <a:off x="8473320" y="3891240"/>
            <a:ext cx="3168720" cy="118764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 w="228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ARP queue enlarged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7" name="S11_12_line"/>
          <p:cNvCxnSpPr/>
          <p:nvPr/>
        </p:nvCxnSpPr>
        <p:spPr>
          <a:xfrm>
            <a:off x="3718440" y="4485600"/>
            <a:ext cx="793440" cy="1080"/>
          </a:xfrm>
          <a:prstGeom prst="straightConnector1">
            <a:avLst/>
          </a:prstGeom>
          <a:ln w="28575">
            <a:solidFill>
              <a:srgbClr val="1F2937"/>
            </a:solidFill>
            <a:round/>
            <a:tailEnd len="med" type="triangle" w="med"/>
          </a:ln>
        </p:spPr>
      </p:cxnSp>
      <p:cxnSp>
        <p:nvCxnSpPr>
          <p:cNvPr id="178" name="S11_13_line"/>
          <p:cNvCxnSpPr/>
          <p:nvPr/>
        </p:nvCxnSpPr>
        <p:spPr>
          <a:xfrm>
            <a:off x="7680600" y="4485600"/>
            <a:ext cx="793440" cy="1080"/>
          </a:xfrm>
          <a:prstGeom prst="straightConnector1">
            <a:avLst/>
          </a:prstGeom>
          <a:ln w="28575">
            <a:solidFill>
              <a:srgbClr val="1F2937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Aptos Display"/>
                <a:ea typeface="Aptos Display"/>
              </a:rPr>
              <a:t>Recap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0" name="S12_1"/>
          <p:cNvSpPr/>
          <p:nvPr/>
        </p:nvSpPr>
        <p:spPr>
          <a:xfrm>
            <a:off x="548640" y="3029760"/>
            <a:ext cx="2925360" cy="146232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 w="228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ns-3 running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12_2"/>
          <p:cNvSpPr/>
          <p:nvPr/>
        </p:nvSpPr>
        <p:spPr>
          <a:xfrm>
            <a:off x="1746000" y="2364840"/>
            <a:ext cx="531000" cy="53100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9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GB" sz="18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12_3"/>
          <p:cNvSpPr/>
          <p:nvPr/>
        </p:nvSpPr>
        <p:spPr>
          <a:xfrm>
            <a:off x="3076200" y="2763720"/>
            <a:ext cx="584280" cy="584280"/>
          </a:xfrm>
          <a:prstGeom prst="ellipse">
            <a:avLst/>
          </a:prstGeom>
          <a:solidFill>
            <a:srgbClr val="16A34A"/>
          </a:solidFill>
          <a:ln w="342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51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GB" sz="25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S12_4"/>
          <p:cNvSpPr/>
          <p:nvPr/>
        </p:nvSpPr>
        <p:spPr>
          <a:xfrm>
            <a:off x="4539600" y="3029760"/>
            <a:ext cx="2925360" cy="146232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 w="228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3GPP traffic model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12_5"/>
          <p:cNvSpPr/>
          <p:nvPr/>
        </p:nvSpPr>
        <p:spPr>
          <a:xfrm>
            <a:off x="5736600" y="2364840"/>
            <a:ext cx="531000" cy="53100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9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GB" sz="18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12_6"/>
          <p:cNvSpPr/>
          <p:nvPr/>
        </p:nvSpPr>
        <p:spPr>
          <a:xfrm>
            <a:off x="7066800" y="2763720"/>
            <a:ext cx="584280" cy="584280"/>
          </a:xfrm>
          <a:prstGeom prst="ellipse">
            <a:avLst/>
          </a:prstGeom>
          <a:solidFill>
            <a:srgbClr val="16A34A"/>
          </a:solidFill>
          <a:ln w="342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51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GB" sz="25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12_7"/>
          <p:cNvSpPr/>
          <p:nvPr/>
        </p:nvSpPr>
        <p:spPr>
          <a:xfrm>
            <a:off x="8530200" y="3029760"/>
            <a:ext cx="2925360" cy="146232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 w="228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verified on my own run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12_8"/>
          <p:cNvSpPr/>
          <p:nvPr/>
        </p:nvSpPr>
        <p:spPr>
          <a:xfrm>
            <a:off x="9727560" y="2364840"/>
            <a:ext cx="531000" cy="53100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9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GB" sz="18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S12_9"/>
          <p:cNvSpPr/>
          <p:nvPr/>
        </p:nvSpPr>
        <p:spPr>
          <a:xfrm>
            <a:off x="11057760" y="2763720"/>
            <a:ext cx="584280" cy="584280"/>
          </a:xfrm>
          <a:prstGeom prst="ellipse">
            <a:avLst/>
          </a:prstGeom>
          <a:solidFill>
            <a:srgbClr val="16A34A"/>
          </a:solidFill>
          <a:ln w="342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54720" tIns="54720" rIns="54720" bIns="5472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51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GB" sz="25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89" name="S12_10_line"/>
          <p:cNvCxnSpPr/>
          <p:nvPr/>
        </p:nvCxnSpPr>
        <p:spPr>
          <a:xfrm>
            <a:off x="3475080" y="3761280"/>
            <a:ext cx="1065240" cy="1080"/>
          </a:xfrm>
          <a:prstGeom prst="straightConnector1">
            <a:avLst/>
          </a:prstGeom>
          <a:ln w="34290">
            <a:solidFill>
              <a:srgbClr val="1F2937"/>
            </a:solidFill>
            <a:round/>
            <a:tailEnd len="med" type="triangle" w="med"/>
          </a:ln>
        </p:spPr>
      </p:cxnSp>
      <p:cxnSp>
        <p:nvCxnSpPr>
          <p:cNvPr id="190" name="S12_11_line"/>
          <p:cNvCxnSpPr/>
          <p:nvPr/>
        </p:nvCxnSpPr>
        <p:spPr>
          <a:xfrm>
            <a:off x="7465680" y="3761280"/>
            <a:ext cx="1065600" cy="1080"/>
          </a:xfrm>
          <a:prstGeom prst="straightConnector1">
            <a:avLst/>
          </a:prstGeom>
          <a:ln w="34290">
            <a:solidFill>
              <a:srgbClr val="1F2937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</TotalTime>
  <Application>LibreOffice/26.2.6.3$Linux_X86_64 LibreOffice_project/620$Build-3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2026-10-12T07:52:28Z</dcterms:created>
  <dc:creator/>
  <dc:description/>
  <dc:language>en-GB</dc:language>
  <cp:lastModifiedBy/>
  <cp:lastPrinted>2026-10-13T23:30:16Z</cp:lastPrinted>
  <dcterms:modified xsi:type="dcterms:W3CDTF">2026-10-13T23:30:03Z</dcterms:modified>
  <cp:revision>270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10</vt:i4>
  </property>
</Properties>
</file>