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BC5E8F-F0C0-4382-BE93-77BC30BFE79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2777D6-2BCC-46B4-B53F-A846DE78ED4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3182EF-6993-45E1-B0CE-F9583BD3986A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9F25CA-8022-4842-8BAE-D5440381F67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F0D73E-6F58-4B0F-9EB3-CC9D99461F1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50B9CF-5624-431F-B9BD-BF1E5C77BF2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3AE0ED-AF0B-498E-8A34-A3E259D4B67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9FA1E0-D4A5-4CD6-8FF1-EC64391FDB7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2C03362-9889-4DD6-ACDE-9E96D4D170D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A7159C-CBA4-4B59-84E1-C03378FD6A6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2F8ED1-3BD9-40B5-A3E0-FF9BD4743A0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Multimedia Wireless Networks A2</a:t>
            </a:r>
            <a:endParaRPr lang="en-US" sz="6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ns-3 Setup &amp; First Scenario</a:t>
            </a:r>
            <a:endParaRPr lang="en-GB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ubtitle 2"/>
          <p:cNvSpPr/>
          <p:nvPr/>
        </p:nvSpPr>
        <p:spPr>
          <a:xfrm>
            <a:off x="3960000" y="5040000"/>
            <a:ext cx="4034520" cy="156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Sascha Furrer</a:t>
            </a:r>
            <a:br>
              <a:rPr sz="3200"/>
            </a:b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F11502002</a:t>
            </a:r>
            <a:br>
              <a:rPr sz="3200"/>
            </a:b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Basic Path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Goal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4" name="Subtitle 2"/>
          <p:cNvSpPr/>
          <p:nvPr/>
        </p:nvSpPr>
        <p:spPr>
          <a:xfrm>
            <a:off x="0" y="4871880"/>
            <a:ext cx="12191400" cy="16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Does EDCA prioritization still work with realistic multimedia traffic?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02_1"/>
          <p:cNvSpPr/>
          <p:nvPr/>
        </p:nvSpPr>
        <p:spPr>
          <a:xfrm>
            <a:off x="548640" y="2729160"/>
            <a:ext cx="2975760" cy="14875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ns-3 running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02_2"/>
          <p:cNvSpPr/>
          <p:nvPr/>
        </p:nvSpPr>
        <p:spPr>
          <a:xfrm>
            <a:off x="1766160" y="2052720"/>
            <a:ext cx="540360" cy="540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2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en-GB" sz="1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02_3"/>
          <p:cNvSpPr/>
          <p:nvPr/>
        </p:nvSpPr>
        <p:spPr>
          <a:xfrm>
            <a:off x="4607640" y="2729160"/>
            <a:ext cx="2975760" cy="14875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3GPP traffic model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02_4"/>
          <p:cNvSpPr/>
          <p:nvPr/>
        </p:nvSpPr>
        <p:spPr>
          <a:xfrm>
            <a:off x="5825160" y="2052720"/>
            <a:ext cx="540360" cy="540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2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en-GB" sz="1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02_5"/>
          <p:cNvSpPr/>
          <p:nvPr/>
        </p:nvSpPr>
        <p:spPr>
          <a:xfrm>
            <a:off x="8666640" y="2729160"/>
            <a:ext cx="2975760" cy="14875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verified on my own run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02_6"/>
          <p:cNvSpPr/>
          <p:nvPr/>
        </p:nvSpPr>
        <p:spPr>
          <a:xfrm>
            <a:off x="9884160" y="2052720"/>
            <a:ext cx="540360" cy="540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92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en-GB" sz="1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S02_7_line"/>
          <p:cNvCxnSpPr/>
          <p:nvPr/>
        </p:nvCxnSpPr>
        <p:spPr>
          <a:xfrm>
            <a:off x="3525120" y="3473280"/>
            <a:ext cx="1082880" cy="720"/>
          </a:xfrm>
          <a:prstGeom prst="straightConnector1">
            <a:avLst/>
          </a:prstGeom>
          <a:ln w="34290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72" name="S02_8_line"/>
          <p:cNvCxnSpPr/>
          <p:nvPr/>
        </p:nvCxnSpPr>
        <p:spPr>
          <a:xfrm>
            <a:off x="7584120" y="3473280"/>
            <a:ext cx="1082880" cy="720"/>
          </a:xfrm>
          <a:prstGeom prst="straightConnector1">
            <a:avLst/>
          </a:prstGeom>
          <a:ln w="34290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73" name="S02_7_line"/>
          <p:cNvCxnSpPr/>
          <p:nvPr/>
        </p:nvCxnSpPr>
        <p:spPr>
          <a:xfrm>
            <a:off x="3525120" y="3473280"/>
            <a:ext cx="1082880" cy="720"/>
          </a:xfrm>
          <a:prstGeom prst="straightConnector1">
            <a:avLst/>
          </a:prstGeom>
          <a:ln w="34290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74" name="S02_8_line"/>
          <p:cNvCxnSpPr/>
          <p:nvPr/>
        </p:nvCxnSpPr>
        <p:spPr>
          <a:xfrm>
            <a:off x="7584120" y="3473280"/>
            <a:ext cx="1082880" cy="720"/>
          </a:xfrm>
          <a:prstGeom prst="straightConnector1">
            <a:avLst/>
          </a:prstGeom>
          <a:ln w="34290">
            <a:solidFill>
              <a:srgbClr val="1F2937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ns-3 setup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6" name="Content Placeholder 4"/>
          <p:cNvPicPr/>
          <p:nvPr/>
        </p:nvPicPr>
        <p:blipFill>
          <a:blip r:embed="rId1"/>
          <a:stretch/>
        </p:blipFill>
        <p:spPr>
          <a:xfrm>
            <a:off x="6452280" y="559800"/>
            <a:ext cx="5420520" cy="288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5"/>
          <p:cNvPicPr/>
          <p:nvPr/>
        </p:nvPicPr>
        <p:blipFill>
          <a:blip r:embed="rId2"/>
          <a:stretch/>
        </p:blipFill>
        <p:spPr>
          <a:xfrm>
            <a:off x="322920" y="1683360"/>
            <a:ext cx="5922720" cy="146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6"/>
          <p:cNvPicPr/>
          <p:nvPr/>
        </p:nvPicPr>
        <p:blipFill>
          <a:blip r:embed="rId3"/>
          <a:stretch/>
        </p:blipFill>
        <p:spPr>
          <a:xfrm>
            <a:off x="320400" y="3690000"/>
            <a:ext cx="11548080" cy="132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Picture 7"/>
          <p:cNvPicPr/>
          <p:nvPr/>
        </p:nvPicPr>
        <p:blipFill>
          <a:blip r:embed="rId4"/>
          <a:stretch/>
        </p:blipFill>
        <p:spPr>
          <a:xfrm>
            <a:off x="319320" y="5190120"/>
            <a:ext cx="11548080" cy="42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3GPP TR 26.926 V19.0.0 (Rel. 19)​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1" name="S04_1"/>
          <p:cNvSpPr/>
          <p:nvPr/>
        </p:nvSpPr>
        <p:spPr>
          <a:xfrm>
            <a:off x="883800" y="1904040"/>
            <a:ext cx="4662720" cy="109656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670" b="1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TS</a:t>
            </a:r>
            <a:endParaRPr lang="en-GB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94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Technical Specification</a:t>
            </a:r>
            <a:endParaRPr lang="en-GB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04_3"/>
          <p:cNvSpPr/>
          <p:nvPr/>
        </p:nvSpPr>
        <p:spPr>
          <a:xfrm>
            <a:off x="6095880" y="1904040"/>
            <a:ext cx="4662720" cy="1096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670" b="1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TR</a:t>
            </a:r>
            <a:endParaRPr lang="en-GB" sz="3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940" b="0" u="none" strike="noStrike">
                <a:solidFill>
                  <a:srgbClr val="1F2937"/>
                </a:solidFill>
                <a:effectLst/>
                <a:uFillTx/>
                <a:latin typeface="Arial"/>
              </a:rPr>
              <a:t>Technical Report</a:t>
            </a:r>
            <a:endParaRPr lang="en-GB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2"/>
          <p:cNvPicPr/>
          <p:nvPr/>
        </p:nvPicPr>
        <p:blipFill>
          <a:blip r:embed="rId1"/>
          <a:stretch/>
        </p:blipFill>
        <p:spPr>
          <a:xfrm>
            <a:off x="548640" y="3515400"/>
            <a:ext cx="11114280" cy="243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3GPP Traffic Model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cxnSp>
        <p:nvCxnSpPr>
          <p:cNvPr id="85" name="S05_1_line"/>
          <p:cNvCxnSpPr/>
          <p:nvPr/>
        </p:nvCxnSpPr>
        <p:spPr>
          <a:xfrm>
            <a:off x="2266200" y="3922920"/>
            <a:ext cx="8763120" cy="720"/>
          </a:xfrm>
          <a:prstGeom prst="straightConnector1">
            <a:avLst/>
          </a:prstGeom>
          <a:ln w="22860">
            <a:solidFill>
              <a:srgbClr val="1F2937"/>
            </a:solidFill>
            <a:round/>
            <a:tailEnd len="med" type="triangle" w="med"/>
          </a:ln>
        </p:spPr>
      </p:cxnSp>
      <p:sp>
        <p:nvSpPr>
          <p:cNvPr id="86" name="S05_2"/>
          <p:cNvSpPr/>
          <p:nvPr/>
        </p:nvSpPr>
        <p:spPr>
          <a:xfrm>
            <a:off x="11067120" y="3788640"/>
            <a:ext cx="575280" cy="26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0" i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</a:t>
            </a: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 [ms]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S05_3_line"/>
          <p:cNvCxnSpPr/>
          <p:nvPr/>
        </p:nvCxnSpPr>
        <p:spPr>
          <a:xfrm>
            <a:off x="2372040" y="2099520"/>
            <a:ext cx="720" cy="259200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sp>
        <p:nvSpPr>
          <p:cNvPr id="88" name="S05_4"/>
          <p:cNvSpPr/>
          <p:nvPr/>
        </p:nvSpPr>
        <p:spPr>
          <a:xfrm>
            <a:off x="2084040" y="4709880"/>
            <a:ext cx="5752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0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S05_5_line"/>
          <p:cNvCxnSpPr/>
          <p:nvPr/>
        </p:nvCxnSpPr>
        <p:spPr>
          <a:xfrm>
            <a:off x="4131360" y="2099520"/>
            <a:ext cx="720" cy="259200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sp>
        <p:nvSpPr>
          <p:cNvPr id="90" name="S05_6"/>
          <p:cNvSpPr/>
          <p:nvPr/>
        </p:nvSpPr>
        <p:spPr>
          <a:xfrm>
            <a:off x="3843720" y="4709880"/>
            <a:ext cx="5752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8.33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S05_7_line"/>
          <p:cNvCxnSpPr/>
          <p:nvPr/>
        </p:nvCxnSpPr>
        <p:spPr>
          <a:xfrm>
            <a:off x="5891040" y="2099520"/>
            <a:ext cx="720" cy="259200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sp>
        <p:nvSpPr>
          <p:cNvPr id="92" name="S05_8"/>
          <p:cNvSpPr/>
          <p:nvPr/>
        </p:nvSpPr>
        <p:spPr>
          <a:xfrm>
            <a:off x="5603040" y="4709880"/>
            <a:ext cx="5752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16.67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S05_9_line"/>
          <p:cNvCxnSpPr/>
          <p:nvPr/>
        </p:nvCxnSpPr>
        <p:spPr>
          <a:xfrm>
            <a:off x="7650360" y="2099520"/>
            <a:ext cx="720" cy="259200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sp>
        <p:nvSpPr>
          <p:cNvPr id="94" name="S05_10"/>
          <p:cNvSpPr/>
          <p:nvPr/>
        </p:nvSpPr>
        <p:spPr>
          <a:xfrm>
            <a:off x="7362720" y="4709880"/>
            <a:ext cx="5752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25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S05_11_line"/>
          <p:cNvCxnSpPr/>
          <p:nvPr/>
        </p:nvCxnSpPr>
        <p:spPr>
          <a:xfrm>
            <a:off x="9410040" y="2099520"/>
            <a:ext cx="720" cy="259200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sp>
        <p:nvSpPr>
          <p:cNvPr id="96" name="S05_12"/>
          <p:cNvSpPr/>
          <p:nvPr/>
        </p:nvSpPr>
        <p:spPr>
          <a:xfrm>
            <a:off x="9122040" y="4709880"/>
            <a:ext cx="57528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33.33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05_13"/>
          <p:cNvSpPr/>
          <p:nvPr/>
        </p:nvSpPr>
        <p:spPr>
          <a:xfrm>
            <a:off x="2498760" y="3155400"/>
            <a:ext cx="527040" cy="767160"/>
          </a:xfrm>
          <a:prstGeom prst="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endParaRPr lang="en-US" sz="1200" b="1" u="none" strike="noStrike">
              <a:solidFill>
                <a:srgbClr val="2563EB"/>
              </a:solidFill>
              <a:effectLst/>
              <a:uFillTx/>
              <a:latin typeface="Aptos"/>
            </a:endParaRPr>
          </a:p>
        </p:txBody>
      </p:sp>
      <p:sp>
        <p:nvSpPr>
          <p:cNvPr id="98" name="S05_14"/>
          <p:cNvSpPr/>
          <p:nvPr/>
        </p:nvSpPr>
        <p:spPr>
          <a:xfrm>
            <a:off x="3899520" y="3278160"/>
            <a:ext cx="527040" cy="644040"/>
          </a:xfrm>
          <a:prstGeom prst="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endParaRPr lang="en-US" sz="1200" b="1" u="none" strike="noStrike">
              <a:solidFill>
                <a:srgbClr val="2563EB"/>
              </a:solidFill>
              <a:effectLst/>
              <a:uFillTx/>
              <a:latin typeface="Aptos"/>
            </a:endParaRPr>
          </a:p>
        </p:txBody>
      </p:sp>
      <p:sp>
        <p:nvSpPr>
          <p:cNvPr id="99" name="S05_15"/>
          <p:cNvSpPr/>
          <p:nvPr/>
        </p:nvSpPr>
        <p:spPr>
          <a:xfrm>
            <a:off x="6271200" y="3032280"/>
            <a:ext cx="527040" cy="889920"/>
          </a:xfrm>
          <a:prstGeom prst="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endParaRPr lang="en-US" sz="1200" b="1" u="none" strike="noStrike">
              <a:solidFill>
                <a:srgbClr val="2563EB"/>
              </a:solidFill>
              <a:effectLst/>
              <a:uFillTx/>
              <a:latin typeface="Aptos"/>
            </a:endParaRPr>
          </a:p>
        </p:txBody>
      </p:sp>
      <p:sp>
        <p:nvSpPr>
          <p:cNvPr id="100" name="S05_16"/>
          <p:cNvSpPr/>
          <p:nvPr/>
        </p:nvSpPr>
        <p:spPr>
          <a:xfrm>
            <a:off x="7566120" y="3209040"/>
            <a:ext cx="527040" cy="713160"/>
          </a:xfrm>
          <a:prstGeom prst="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endParaRPr lang="en-US" sz="1200" b="1" u="none" strike="noStrike">
              <a:solidFill>
                <a:srgbClr val="2563EB"/>
              </a:solidFill>
              <a:effectLst/>
              <a:uFillTx/>
              <a:latin typeface="Aptos"/>
            </a:endParaRPr>
          </a:p>
        </p:txBody>
      </p:sp>
      <p:sp>
        <p:nvSpPr>
          <p:cNvPr id="101" name="S05_17"/>
          <p:cNvSpPr/>
          <p:nvPr/>
        </p:nvSpPr>
        <p:spPr>
          <a:xfrm>
            <a:off x="9600120" y="3093840"/>
            <a:ext cx="527040" cy="828360"/>
          </a:xfrm>
          <a:prstGeom prst="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endParaRPr lang="en-US" sz="1200" b="1" u="none" strike="noStrike">
              <a:solidFill>
                <a:srgbClr val="2563EB"/>
              </a:solidFill>
              <a:effectLst/>
              <a:uFillTx/>
              <a:latin typeface="Aptos"/>
            </a:endParaRPr>
          </a:p>
        </p:txBody>
      </p:sp>
      <p:cxnSp>
        <p:nvCxnSpPr>
          <p:cNvPr id="102" name="S05_18_line"/>
          <p:cNvCxnSpPr/>
          <p:nvPr/>
        </p:nvCxnSpPr>
        <p:spPr>
          <a:xfrm>
            <a:off x="4131360" y="2003400"/>
            <a:ext cx="1760400" cy="720"/>
          </a:xfrm>
          <a:prstGeom prst="straightConnector1">
            <a:avLst/>
          </a:prstGeom>
          <a:ln w="17145">
            <a:solidFill>
              <a:srgbClr val="1F2937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03" name="S05_19_line"/>
          <p:cNvCxnSpPr/>
          <p:nvPr/>
        </p:nvCxnSpPr>
        <p:spPr>
          <a:xfrm>
            <a:off x="5891040" y="2847960"/>
            <a:ext cx="380520" cy="720"/>
          </a:xfrm>
          <a:prstGeom prst="straightConnector1">
            <a:avLst/>
          </a:prstGeom>
          <a:ln w="17145">
            <a:solidFill>
              <a:srgbClr val="2563EB"/>
            </a:solidFill>
            <a:round/>
            <a:headEnd len="med" type="arrow" w="med"/>
            <a:tailEnd len="med" type="arrow" w="med"/>
          </a:ln>
        </p:spPr>
      </p:cxnSp>
      <p:sp>
        <p:nvSpPr>
          <p:cNvPr id="104" name="S05_20"/>
          <p:cNvSpPr/>
          <p:nvPr/>
        </p:nvSpPr>
        <p:spPr>
          <a:xfrm>
            <a:off x="5602680" y="2509200"/>
            <a:ext cx="11509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jitter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05_21"/>
          <p:cNvSpPr/>
          <p:nvPr/>
        </p:nvSpPr>
        <p:spPr>
          <a:xfrm>
            <a:off x="9995400" y="2387520"/>
            <a:ext cx="143892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size varies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per buffer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05_22"/>
          <p:cNvSpPr/>
          <p:nvPr/>
        </p:nvSpPr>
        <p:spPr>
          <a:xfrm>
            <a:off x="2794320" y="3922920"/>
            <a:ext cx="104760" cy="248760"/>
          </a:xfrm>
          <a:prstGeom prst="rect">
            <a:avLst/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560" tIns="45000" rIns="52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S05_23"/>
          <p:cNvSpPr/>
          <p:nvPr/>
        </p:nvSpPr>
        <p:spPr>
          <a:xfrm>
            <a:off x="4905720" y="3922920"/>
            <a:ext cx="104760" cy="248760"/>
          </a:xfrm>
          <a:prstGeom prst="rect">
            <a:avLst/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560" tIns="45000" rIns="52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8" name="S05_24"/>
          <p:cNvSpPr/>
          <p:nvPr/>
        </p:nvSpPr>
        <p:spPr>
          <a:xfrm>
            <a:off x="7017120" y="3922920"/>
            <a:ext cx="104760" cy="248760"/>
          </a:xfrm>
          <a:prstGeom prst="rect">
            <a:avLst/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560" tIns="45000" rIns="52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9" name="S05_25"/>
          <p:cNvSpPr/>
          <p:nvPr/>
        </p:nvSpPr>
        <p:spPr>
          <a:xfrm>
            <a:off x="9128520" y="3922920"/>
            <a:ext cx="104760" cy="248760"/>
          </a:xfrm>
          <a:prstGeom prst="rect">
            <a:avLst/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2560" tIns="45000" rIns="525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10" name="S05_26_line"/>
          <p:cNvCxnSpPr/>
          <p:nvPr/>
        </p:nvCxnSpPr>
        <p:spPr>
          <a:xfrm>
            <a:off x="2794320" y="4402800"/>
            <a:ext cx="2112120" cy="720"/>
          </a:xfrm>
          <a:prstGeom prst="straightConnector1">
            <a:avLst/>
          </a:prstGeom>
          <a:ln w="17145">
            <a:solidFill>
              <a:srgbClr val="EA580C"/>
            </a:solidFill>
            <a:round/>
            <a:headEnd len="med" type="arrow" w="med"/>
            <a:tailEnd len="med" type="arrow" w="med"/>
          </a:ln>
        </p:spPr>
      </p:cxnSp>
      <p:sp>
        <p:nvSpPr>
          <p:cNvPr id="111" name="S05_27"/>
          <p:cNvSpPr/>
          <p:nvPr/>
        </p:nvSpPr>
        <p:spPr>
          <a:xfrm>
            <a:off x="548640" y="3251160"/>
            <a:ext cx="16308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DL</a:t>
            </a:r>
            <a:r>
              <a:rPr lang="en-US" sz="1800" b="0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 eye buffers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AP → STA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05_28"/>
          <p:cNvSpPr/>
          <p:nvPr/>
        </p:nvSpPr>
        <p:spPr>
          <a:xfrm>
            <a:off x="548640" y="3980520"/>
            <a:ext cx="1630800" cy="4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UL</a:t>
            </a:r>
            <a:r>
              <a:rPr lang="en-US" sz="1800" b="0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 pose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STA → AP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05_29"/>
          <p:cNvSpPr/>
          <p:nvPr/>
        </p:nvSpPr>
        <p:spPr>
          <a:xfrm>
            <a:off x="932400" y="5388120"/>
            <a:ext cx="1094724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Frame size:</a:t>
            </a:r>
            <a:r>
              <a:rPr lang="en-US" sz="23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 truncated Gaussian,  M = R · 10</a:t>
            </a:r>
            <a:r>
              <a:rPr lang="en-US" sz="2300" b="0" u="none" strike="noStrike" baseline="30000">
                <a:solidFill>
                  <a:srgbClr val="1F2937"/>
                </a:solidFill>
                <a:effectLst/>
                <a:uFillTx/>
                <a:latin typeface="Aptos"/>
              </a:rPr>
              <a:t>6</a:t>
            </a:r>
            <a:r>
              <a:rPr lang="en-US" sz="23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 / (2F) / 8,  STD 10.5 % of M,  ±50 %</a:t>
            </a:r>
            <a:endParaRPr lang="en-GB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05_30"/>
          <p:cNvSpPr/>
          <p:nvPr/>
        </p:nvSpPr>
        <p:spPr>
          <a:xfrm>
            <a:off x="932400" y="5724000"/>
            <a:ext cx="959652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Jitter:</a:t>
            </a:r>
            <a:r>
              <a:rPr lang="en-US" sz="23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 truncated Gaussian,  STD 2 ms,  ±4 ms</a:t>
            </a:r>
            <a:endParaRPr lang="en-GB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05_label"/>
          <p:cNvSpPr/>
          <p:nvPr/>
        </p:nvSpPr>
        <p:spPr>
          <a:xfrm>
            <a:off x="4755960" y="1832400"/>
            <a:ext cx="492840" cy="3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8.33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05_label"/>
          <p:cNvSpPr/>
          <p:nvPr/>
        </p:nvSpPr>
        <p:spPr>
          <a:xfrm>
            <a:off x="3603240" y="4308480"/>
            <a:ext cx="493200" cy="187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10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07_12"/>
          <p:cNvSpPr/>
          <p:nvPr/>
        </p:nvSpPr>
        <p:spPr>
          <a:xfrm>
            <a:off x="929160" y="6197760"/>
            <a:ext cx="1072584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Based on </a:t>
            </a:r>
            <a:r>
              <a:rPr lang="en-US" sz="2300" b="0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Table 6.5.3.1-1</a:t>
            </a:r>
            <a:endParaRPr lang="en-GB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Traffic Generator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9" name="S06_1"/>
          <p:cNvSpPr/>
          <p:nvPr/>
        </p:nvSpPr>
        <p:spPr>
          <a:xfrm>
            <a:off x="548640" y="2755440"/>
            <a:ext cx="2623680" cy="14306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XrTrafficApp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06_2"/>
          <p:cNvSpPr/>
          <p:nvPr/>
        </p:nvSpPr>
        <p:spPr>
          <a:xfrm>
            <a:off x="4246920" y="1801080"/>
            <a:ext cx="2265840" cy="10728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DL video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R = 10 Mbit/s, F = 60 fps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06_3"/>
          <p:cNvSpPr/>
          <p:nvPr/>
        </p:nvSpPr>
        <p:spPr>
          <a:xfrm>
            <a:off x="7348320" y="1980000"/>
            <a:ext cx="1430640" cy="714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TID 5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06_4"/>
          <p:cNvSpPr/>
          <p:nvPr/>
        </p:nvSpPr>
        <p:spPr>
          <a:xfrm>
            <a:off x="9614880" y="1980000"/>
            <a:ext cx="1430640" cy="7149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AC_VI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" name="S06_5_line"/>
          <p:cNvCxnSpPr/>
          <p:nvPr/>
        </p:nvCxnSpPr>
        <p:spPr>
          <a:xfrm>
            <a:off x="3173040" y="3471120"/>
            <a:ext cx="5374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</a:ln>
        </p:spPr>
      </p:cxnSp>
      <p:cxnSp>
        <p:nvCxnSpPr>
          <p:cNvPr id="124" name="S06_5_line"/>
          <p:cNvCxnSpPr/>
          <p:nvPr/>
        </p:nvCxnSpPr>
        <p:spPr>
          <a:xfrm flipV="1">
            <a:off x="3709800" y="2337840"/>
            <a:ext cx="720" cy="1134000"/>
          </a:xfrm>
          <a:prstGeom prst="straightConnector1">
            <a:avLst/>
          </a:prstGeom>
          <a:ln w="28575">
            <a:solidFill>
              <a:srgbClr val="1F2937"/>
            </a:solidFill>
            <a:round/>
          </a:ln>
        </p:spPr>
      </p:cxnSp>
      <p:cxnSp>
        <p:nvCxnSpPr>
          <p:cNvPr id="125" name="S06_5_line"/>
          <p:cNvCxnSpPr/>
          <p:nvPr/>
        </p:nvCxnSpPr>
        <p:spPr>
          <a:xfrm>
            <a:off x="3709800" y="2337840"/>
            <a:ext cx="5374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126" name="S06_6_line"/>
          <p:cNvCxnSpPr/>
          <p:nvPr/>
        </p:nvCxnSpPr>
        <p:spPr>
          <a:xfrm>
            <a:off x="6513120" y="2337840"/>
            <a:ext cx="835920" cy="720"/>
          </a:xfrm>
          <a:prstGeom prst="straightConnector1">
            <a:avLst/>
          </a:prstGeom>
          <a:ln w="22860">
            <a:solidFill>
              <a:srgbClr val="2563EB"/>
            </a:solidFill>
            <a:round/>
            <a:tailEnd len="med" type="triangle" w="med"/>
          </a:ln>
        </p:spPr>
      </p:cxnSp>
      <p:cxnSp>
        <p:nvCxnSpPr>
          <p:cNvPr id="127" name="S06_7_line"/>
          <p:cNvCxnSpPr/>
          <p:nvPr/>
        </p:nvCxnSpPr>
        <p:spPr>
          <a:xfrm>
            <a:off x="8779680" y="2337840"/>
            <a:ext cx="835920" cy="720"/>
          </a:xfrm>
          <a:prstGeom prst="straightConnector1">
            <a:avLst/>
          </a:prstGeom>
          <a:ln w="22860">
            <a:solidFill>
              <a:srgbClr val="2563EB"/>
            </a:solidFill>
            <a:round/>
            <a:tailEnd len="med" type="triangle" w="med"/>
          </a:ln>
        </p:spPr>
      </p:cxnSp>
      <p:sp>
        <p:nvSpPr>
          <p:cNvPr id="128" name="S06_8"/>
          <p:cNvSpPr/>
          <p:nvPr/>
        </p:nvSpPr>
        <p:spPr>
          <a:xfrm>
            <a:off x="4246920" y="3948480"/>
            <a:ext cx="2265840" cy="107280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UL pose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100 B every 10 ms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06_9"/>
          <p:cNvSpPr/>
          <p:nvPr/>
        </p:nvSpPr>
        <p:spPr>
          <a:xfrm>
            <a:off x="7348320" y="4127400"/>
            <a:ext cx="1430640" cy="714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TID 6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06_10"/>
          <p:cNvSpPr/>
          <p:nvPr/>
        </p:nvSpPr>
        <p:spPr>
          <a:xfrm>
            <a:off x="9614880" y="4127400"/>
            <a:ext cx="1430640" cy="71496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AC_VO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S06_11_line"/>
          <p:cNvCxnSpPr/>
          <p:nvPr/>
        </p:nvCxnSpPr>
        <p:spPr>
          <a:xfrm>
            <a:off x="3173040" y="3471120"/>
            <a:ext cx="5374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</a:ln>
        </p:spPr>
      </p:cxnSp>
      <p:cxnSp>
        <p:nvCxnSpPr>
          <p:cNvPr id="132" name="S06_11_line"/>
          <p:cNvCxnSpPr/>
          <p:nvPr/>
        </p:nvCxnSpPr>
        <p:spPr>
          <a:xfrm>
            <a:off x="3709800" y="3471120"/>
            <a:ext cx="720" cy="1014840"/>
          </a:xfrm>
          <a:prstGeom prst="straightConnector1">
            <a:avLst/>
          </a:prstGeom>
          <a:ln w="28575">
            <a:solidFill>
              <a:srgbClr val="1F2937"/>
            </a:solidFill>
            <a:round/>
          </a:ln>
        </p:spPr>
      </p:cxnSp>
      <p:cxnSp>
        <p:nvCxnSpPr>
          <p:cNvPr id="133" name="S06_11_line"/>
          <p:cNvCxnSpPr/>
          <p:nvPr/>
        </p:nvCxnSpPr>
        <p:spPr>
          <a:xfrm>
            <a:off x="3709800" y="4485240"/>
            <a:ext cx="5374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134" name="S06_12_line"/>
          <p:cNvCxnSpPr/>
          <p:nvPr/>
        </p:nvCxnSpPr>
        <p:spPr>
          <a:xfrm>
            <a:off x="6513120" y="4485240"/>
            <a:ext cx="835920" cy="720"/>
          </a:xfrm>
          <a:prstGeom prst="straightConnector1">
            <a:avLst/>
          </a:prstGeom>
          <a:ln w="22860">
            <a:solidFill>
              <a:srgbClr val="EA580C"/>
            </a:solidFill>
            <a:round/>
            <a:tailEnd len="med" type="triangle" w="med"/>
          </a:ln>
        </p:spPr>
      </p:cxnSp>
      <p:cxnSp>
        <p:nvCxnSpPr>
          <p:cNvPr id="135" name="S06_13_line"/>
          <p:cNvCxnSpPr/>
          <p:nvPr/>
        </p:nvCxnSpPr>
        <p:spPr>
          <a:xfrm>
            <a:off x="8779680" y="4485240"/>
            <a:ext cx="835920" cy="720"/>
          </a:xfrm>
          <a:prstGeom prst="straightConnector1">
            <a:avLst/>
          </a:prstGeom>
          <a:ln w="22860">
            <a:solidFill>
              <a:srgbClr val="EA580C"/>
            </a:solidFill>
            <a:round/>
            <a:tailEnd len="med" type="triangle" w="med"/>
          </a:ln>
        </p:spPr>
      </p:cxnSp>
      <p:sp>
        <p:nvSpPr>
          <p:cNvPr id="136" name="S06_14"/>
          <p:cNvSpPr/>
          <p:nvPr/>
        </p:nvSpPr>
        <p:spPr>
          <a:xfrm>
            <a:off x="3600000" y="5297400"/>
            <a:ext cx="805716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ToS byte → 802.11 user priority (TID) → access category</a:t>
            </a:r>
            <a:endParaRPr lang="en-GB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06_label"/>
          <p:cNvSpPr/>
          <p:nvPr/>
        </p:nvSpPr>
        <p:spPr>
          <a:xfrm>
            <a:off x="6600600" y="2225160"/>
            <a:ext cx="660240" cy="22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IP ToS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06_label"/>
          <p:cNvSpPr/>
          <p:nvPr/>
        </p:nvSpPr>
        <p:spPr>
          <a:xfrm>
            <a:off x="6600600" y="4372560"/>
            <a:ext cx="660240" cy="22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IP ToS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Scenario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40" name="S07_1"/>
          <p:cNvSpPr/>
          <p:nvPr/>
        </p:nvSpPr>
        <p:spPr>
          <a:xfrm>
            <a:off x="1422360" y="2729880"/>
            <a:ext cx="2044080" cy="14598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AP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07_2"/>
          <p:cNvSpPr/>
          <p:nvPr/>
        </p:nvSpPr>
        <p:spPr>
          <a:xfrm>
            <a:off x="8724600" y="2729880"/>
            <a:ext cx="2044080" cy="14598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STA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XR headset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" name="S07_3_line"/>
          <p:cNvCxnSpPr/>
          <p:nvPr/>
        </p:nvCxnSpPr>
        <p:spPr>
          <a:xfrm flipV="1">
            <a:off x="2444400" y="2145600"/>
            <a:ext cx="720" cy="584640"/>
          </a:xfrm>
          <a:prstGeom prst="straightConnector1">
            <a:avLst/>
          </a:prstGeom>
          <a:ln w="34290">
            <a:solidFill>
              <a:srgbClr val="1F2937"/>
            </a:solidFill>
            <a:round/>
          </a:ln>
        </p:spPr>
      </p:cxnSp>
      <p:sp>
        <p:nvSpPr>
          <p:cNvPr id="143" name="S07_4"/>
          <p:cNvSpPr/>
          <p:nvPr/>
        </p:nvSpPr>
        <p:spPr>
          <a:xfrm>
            <a:off x="2342520" y="1999440"/>
            <a:ext cx="203760" cy="2037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44" name="S07_5_line"/>
          <p:cNvCxnSpPr/>
          <p:nvPr/>
        </p:nvCxnSpPr>
        <p:spPr>
          <a:xfrm flipV="1">
            <a:off x="9747000" y="2145600"/>
            <a:ext cx="720" cy="584640"/>
          </a:xfrm>
          <a:prstGeom prst="straightConnector1">
            <a:avLst/>
          </a:prstGeom>
          <a:ln w="34290">
            <a:solidFill>
              <a:srgbClr val="1F2937"/>
            </a:solidFill>
            <a:round/>
          </a:ln>
        </p:spPr>
      </p:cxnSp>
      <p:sp>
        <p:nvSpPr>
          <p:cNvPr id="145" name="S07_6"/>
          <p:cNvSpPr/>
          <p:nvPr/>
        </p:nvSpPr>
        <p:spPr>
          <a:xfrm>
            <a:off x="9644760" y="1999440"/>
            <a:ext cx="203760" cy="2037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146" name="S07_7_line"/>
          <p:cNvCxnSpPr/>
          <p:nvPr/>
        </p:nvCxnSpPr>
        <p:spPr>
          <a:xfrm>
            <a:off x="3466800" y="3094920"/>
            <a:ext cx="5258520" cy="720"/>
          </a:xfrm>
          <a:prstGeom prst="straightConnector1">
            <a:avLst/>
          </a:prstGeom>
          <a:ln w="34290">
            <a:solidFill>
              <a:srgbClr val="2563EB"/>
            </a:solidFill>
            <a:round/>
            <a:tailEnd len="med" type="triangle" w="med"/>
          </a:ln>
        </p:spPr>
      </p:cxnSp>
      <p:cxnSp>
        <p:nvCxnSpPr>
          <p:cNvPr id="147" name="S07_8_line"/>
          <p:cNvCxnSpPr/>
          <p:nvPr/>
        </p:nvCxnSpPr>
        <p:spPr>
          <a:xfrm flipH="1">
            <a:off x="3466800" y="3825000"/>
            <a:ext cx="5258520" cy="720"/>
          </a:xfrm>
          <a:prstGeom prst="straightConnector1">
            <a:avLst/>
          </a:prstGeom>
          <a:ln w="34290">
            <a:solidFill>
              <a:srgbClr val="EA580C"/>
            </a:solidFill>
            <a:round/>
            <a:tailEnd len="med" type="triangle" w="med"/>
          </a:ln>
        </p:spPr>
      </p:cxnSp>
      <p:cxnSp>
        <p:nvCxnSpPr>
          <p:cNvPr id="148" name="S07_9_line"/>
          <p:cNvCxnSpPr/>
          <p:nvPr/>
        </p:nvCxnSpPr>
        <p:spPr>
          <a:xfrm>
            <a:off x="2444400" y="4774320"/>
            <a:ext cx="7303320" cy="720"/>
          </a:xfrm>
          <a:prstGeom prst="straightConnector1">
            <a:avLst/>
          </a:prstGeom>
          <a:ln w="17145">
            <a:solidFill>
              <a:srgbClr val="1F2937"/>
            </a:solidFill>
            <a:round/>
            <a:headEnd len="med" type="arrow" w="med"/>
            <a:tailEnd len="med" type="arrow" w="med"/>
          </a:ln>
        </p:spPr>
      </p:cxnSp>
      <p:cxnSp>
        <p:nvCxnSpPr>
          <p:cNvPr id="149" name="S07_10_line"/>
          <p:cNvCxnSpPr/>
          <p:nvPr/>
        </p:nvCxnSpPr>
        <p:spPr>
          <a:xfrm>
            <a:off x="2444400" y="4263120"/>
            <a:ext cx="720" cy="65808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cxnSp>
        <p:nvCxnSpPr>
          <p:cNvPr id="150" name="S07_11_line"/>
          <p:cNvCxnSpPr/>
          <p:nvPr/>
        </p:nvCxnSpPr>
        <p:spPr>
          <a:xfrm>
            <a:off x="9747000" y="4263120"/>
            <a:ext cx="720" cy="658080"/>
          </a:xfrm>
          <a:prstGeom prst="straightConnector1">
            <a:avLst/>
          </a:prstGeom>
          <a:ln w="11430">
            <a:solidFill>
              <a:srgbClr val="6B7280"/>
            </a:solidFill>
            <a:prstDash val="dash"/>
            <a:round/>
          </a:ln>
        </p:spPr>
      </p:cxnSp>
      <p:sp>
        <p:nvSpPr>
          <p:cNvPr id="151" name="S07_12"/>
          <p:cNvSpPr/>
          <p:nvPr/>
        </p:nvSpPr>
        <p:spPr>
          <a:xfrm>
            <a:off x="2444760" y="5139720"/>
            <a:ext cx="730188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802.11a · 54 Mbit/s · channel 36</a:t>
            </a:r>
            <a:endParaRPr lang="en-GB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07_label"/>
          <p:cNvSpPr/>
          <p:nvPr/>
        </p:nvSpPr>
        <p:spPr>
          <a:xfrm>
            <a:off x="4498560" y="2937240"/>
            <a:ext cx="3193560" cy="31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DL video</a:t>
            </a:r>
            <a:r>
              <a:rPr lang="en-US" sz="2100" b="0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 · AC_VI (TID 5)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07_label"/>
          <p:cNvSpPr/>
          <p:nvPr/>
        </p:nvSpPr>
        <p:spPr>
          <a:xfrm>
            <a:off x="4563000" y="3667320"/>
            <a:ext cx="3065040" cy="31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UL pose</a:t>
            </a:r>
            <a:r>
              <a:rPr lang="en-US" sz="2100" b="0" u="none" strike="noStrike">
                <a:solidFill>
                  <a:srgbClr val="EA580C"/>
                </a:solidFill>
                <a:effectLst/>
                <a:uFillTx/>
                <a:latin typeface="Aptos"/>
              </a:rPr>
              <a:t> · AC_VO (TID 6)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07_label"/>
          <p:cNvSpPr/>
          <p:nvPr/>
        </p:nvSpPr>
        <p:spPr>
          <a:xfrm>
            <a:off x="5848200" y="4616640"/>
            <a:ext cx="494640" cy="31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3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5 m</a:t>
            </a:r>
            <a:endParaRPr lang="en-GB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56" name=""/>
          <p:cNvPicPr/>
          <p:nvPr/>
        </p:nvPicPr>
        <p:blipFill>
          <a:blip r:embed="rId1"/>
          <a:srcRect l="0" t="0" r="25003" b="0"/>
          <a:stretch/>
        </p:blipFill>
        <p:spPr>
          <a:xfrm>
            <a:off x="7740360" y="360000"/>
            <a:ext cx="4319280" cy="5928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57" name=""/>
          <p:cNvGraphicFramePr/>
          <p:nvPr/>
        </p:nvGraphicFramePr>
        <p:xfrm>
          <a:off x="1091880" y="2183400"/>
          <a:ext cx="5075280" cy="138672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236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DL video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UL pose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throughput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10.2 Mbit/s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0.07 Mbit/s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mean delay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1.29 ms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0.37 ms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loss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en-GB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8" name=""/>
          <p:cNvSpPr/>
          <p:nvPr/>
        </p:nvSpPr>
        <p:spPr>
          <a:xfrm>
            <a:off x="180000" y="4500000"/>
            <a:ext cx="7739640" cy="91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overhead DL video: 7.58 packets/frame × 120 frames/s ≈ 909 packets/s</a:t>
            </a:r>
            <a:br>
              <a:rPr sz="1600"/>
            </a:b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	</a:t>
            </a: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	</a:t>
            </a: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 909 × 28 B × 8 ≈ 0.20 Mbit/s</a:t>
            </a:r>
            <a:br>
              <a:rPr sz="1600"/>
            </a:br>
            <a:r>
              <a:rPr lang="en-GB" sz="16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throughput UL pose: 100 packets/s × 88 B × 8 bit = 70 400 bit/s ≈ 0.070 Mbit/s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60" name=""/>
          <p:cNvPicPr/>
          <p:nvPr/>
        </p:nvPicPr>
        <p:blipFill>
          <a:blip r:embed="rId1"/>
          <a:stretch/>
        </p:blipFill>
        <p:spPr>
          <a:xfrm>
            <a:off x="360000" y="1800000"/>
            <a:ext cx="11189160" cy="39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What broke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62" name="S11_1"/>
          <p:cNvSpPr/>
          <p:nvPr/>
        </p:nvSpPr>
        <p:spPr>
          <a:xfrm>
            <a:off x="548640" y="1778040"/>
            <a:ext cx="316908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Symptom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11_2"/>
          <p:cNvSpPr/>
          <p:nvPr/>
        </p:nvSpPr>
        <p:spPr>
          <a:xfrm>
            <a:off x="4510800" y="1778040"/>
            <a:ext cx="316908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Cause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11_3"/>
          <p:cNvSpPr/>
          <p:nvPr/>
        </p:nvSpPr>
        <p:spPr>
          <a:xfrm>
            <a:off x="8473320" y="1778040"/>
            <a:ext cx="3169080" cy="3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Fix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11_4"/>
          <p:cNvSpPr/>
          <p:nvPr/>
        </p:nvSpPr>
        <p:spPr>
          <a:xfrm>
            <a:off x="548640" y="2306520"/>
            <a:ext cx="3169080" cy="118800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Jitter only in whole ms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11_5"/>
          <p:cNvSpPr/>
          <p:nvPr/>
        </p:nvSpPr>
        <p:spPr>
          <a:xfrm>
            <a:off x="4510800" y="2306520"/>
            <a:ext cx="3169080" cy="11880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MilliSeconds() takes only integers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11_6"/>
          <p:cNvSpPr/>
          <p:nvPr/>
        </p:nvSpPr>
        <p:spPr>
          <a:xfrm>
            <a:off x="8473320" y="2306520"/>
            <a:ext cx="3169080" cy="11880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Time::FromDouble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8" name="S11_7_line"/>
          <p:cNvCxnSpPr/>
          <p:nvPr/>
        </p:nvCxnSpPr>
        <p:spPr>
          <a:xfrm>
            <a:off x="3718440" y="2900520"/>
            <a:ext cx="7930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169" name="S11_8_line"/>
          <p:cNvCxnSpPr/>
          <p:nvPr/>
        </p:nvCxnSpPr>
        <p:spPr>
          <a:xfrm>
            <a:off x="7680600" y="2900520"/>
            <a:ext cx="7930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  <a:tailEnd len="med" type="triangle" w="med"/>
          </a:ln>
        </p:spPr>
      </p:cxnSp>
      <p:sp>
        <p:nvSpPr>
          <p:cNvPr id="170" name="S11_9"/>
          <p:cNvSpPr/>
          <p:nvPr/>
        </p:nvSpPr>
        <p:spPr>
          <a:xfrm>
            <a:off x="548640" y="3891240"/>
            <a:ext cx="3169080" cy="118800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packets lost at start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11_10"/>
          <p:cNvSpPr/>
          <p:nvPr/>
        </p:nvSpPr>
        <p:spPr>
          <a:xfrm>
            <a:off x="4510800" y="3891240"/>
            <a:ext cx="3169080" cy="11880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2286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ARP queue holds only 3 packets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11_11"/>
          <p:cNvSpPr/>
          <p:nvPr/>
        </p:nvSpPr>
        <p:spPr>
          <a:xfrm>
            <a:off x="8473320" y="3891240"/>
            <a:ext cx="3169080" cy="11880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ARP queue enlarged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3" name="S11_12_line"/>
          <p:cNvCxnSpPr/>
          <p:nvPr/>
        </p:nvCxnSpPr>
        <p:spPr>
          <a:xfrm>
            <a:off x="3718440" y="4485600"/>
            <a:ext cx="7930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174" name="S11_13_line"/>
          <p:cNvCxnSpPr/>
          <p:nvPr/>
        </p:nvCxnSpPr>
        <p:spPr>
          <a:xfrm>
            <a:off x="7680600" y="4485600"/>
            <a:ext cx="793080" cy="720"/>
          </a:xfrm>
          <a:prstGeom prst="straightConnector1">
            <a:avLst/>
          </a:prstGeom>
          <a:ln w="28575">
            <a:solidFill>
              <a:srgbClr val="1F2937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Recap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6" name="S12_1"/>
          <p:cNvSpPr/>
          <p:nvPr/>
        </p:nvSpPr>
        <p:spPr>
          <a:xfrm>
            <a:off x="548640" y="3029760"/>
            <a:ext cx="2925720" cy="14626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ns-3 running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12_2"/>
          <p:cNvSpPr/>
          <p:nvPr/>
        </p:nvSpPr>
        <p:spPr>
          <a:xfrm>
            <a:off x="1746000" y="2364840"/>
            <a:ext cx="531360" cy="531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GB" sz="18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12_3"/>
          <p:cNvSpPr/>
          <p:nvPr/>
        </p:nvSpPr>
        <p:spPr>
          <a:xfrm>
            <a:off x="3076200" y="2763720"/>
            <a:ext cx="584640" cy="584640"/>
          </a:xfrm>
          <a:prstGeom prst="ellipse">
            <a:avLst/>
          </a:prstGeom>
          <a:solidFill>
            <a:srgbClr val="16A34A"/>
          </a:solidFill>
          <a:ln w="342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51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GB" sz="25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12_4"/>
          <p:cNvSpPr/>
          <p:nvPr/>
        </p:nvSpPr>
        <p:spPr>
          <a:xfrm>
            <a:off x="4539600" y="3029760"/>
            <a:ext cx="2925720" cy="14626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3GPP traffic model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12_5"/>
          <p:cNvSpPr/>
          <p:nvPr/>
        </p:nvSpPr>
        <p:spPr>
          <a:xfrm>
            <a:off x="5736600" y="2364840"/>
            <a:ext cx="531360" cy="531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GB" sz="18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12_6"/>
          <p:cNvSpPr/>
          <p:nvPr/>
        </p:nvSpPr>
        <p:spPr>
          <a:xfrm>
            <a:off x="7066800" y="2763720"/>
            <a:ext cx="584640" cy="584640"/>
          </a:xfrm>
          <a:prstGeom prst="ellipse">
            <a:avLst/>
          </a:prstGeom>
          <a:solidFill>
            <a:srgbClr val="16A34A"/>
          </a:solidFill>
          <a:ln w="342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51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GB" sz="25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12_7"/>
          <p:cNvSpPr/>
          <p:nvPr/>
        </p:nvSpPr>
        <p:spPr>
          <a:xfrm>
            <a:off x="8530200" y="3029760"/>
            <a:ext cx="2925720" cy="146268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verified on my own run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12_8"/>
          <p:cNvSpPr/>
          <p:nvPr/>
        </p:nvSpPr>
        <p:spPr>
          <a:xfrm>
            <a:off x="9727560" y="2364840"/>
            <a:ext cx="531360" cy="53136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9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GB" sz="18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12_9"/>
          <p:cNvSpPr/>
          <p:nvPr/>
        </p:nvSpPr>
        <p:spPr>
          <a:xfrm>
            <a:off x="11057760" y="2763720"/>
            <a:ext cx="584640" cy="584640"/>
          </a:xfrm>
          <a:prstGeom prst="ellipse">
            <a:avLst/>
          </a:prstGeom>
          <a:solidFill>
            <a:srgbClr val="16A34A"/>
          </a:solidFill>
          <a:ln w="342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54720" tIns="54720" rIns="54720" bIns="547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51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✓</a:t>
            </a:r>
            <a:endParaRPr lang="en-GB" sz="25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S12_10_line"/>
          <p:cNvCxnSpPr/>
          <p:nvPr/>
        </p:nvCxnSpPr>
        <p:spPr>
          <a:xfrm>
            <a:off x="3475080" y="3761280"/>
            <a:ext cx="1064880" cy="720"/>
          </a:xfrm>
          <a:prstGeom prst="straightConnector1">
            <a:avLst/>
          </a:prstGeom>
          <a:ln w="34290">
            <a:solidFill>
              <a:srgbClr val="1F2937"/>
            </a:solidFill>
            <a:round/>
            <a:tailEnd len="med" type="triangle" w="med"/>
          </a:ln>
        </p:spPr>
      </p:cxnSp>
      <p:cxnSp>
        <p:nvCxnSpPr>
          <p:cNvPr id="186" name="S12_11_line"/>
          <p:cNvCxnSpPr/>
          <p:nvPr/>
        </p:nvCxnSpPr>
        <p:spPr>
          <a:xfrm>
            <a:off x="7465680" y="3761280"/>
            <a:ext cx="1065240" cy="720"/>
          </a:xfrm>
          <a:prstGeom prst="straightConnector1">
            <a:avLst/>
          </a:prstGeom>
          <a:ln w="34290">
            <a:solidFill>
              <a:srgbClr val="1F2937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2026-10-12T07:52:28Z</dcterms:created>
  <dc:creator/>
  <dc:description/>
  <dc:language>en-GB</dc:language>
  <cp:lastModifiedBy/>
  <dcterms:modified xsi:type="dcterms:W3CDTF">2026-10-13T16:16:36Z</dcterms:modified>
  <cp:revision>265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